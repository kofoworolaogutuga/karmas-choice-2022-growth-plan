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1" r:id="rId5"/>
    <p:sldId id="260" r:id="rId6"/>
    <p:sldId id="262"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7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9C7F96-0DDD-250D-F378-03267126471E}" v="3" dt="2026-07-12T23:46:20.751"/>
    <p1510:client id="{C68093C0-B605-F3B1-8229-5B89785CC371}" v="47" dt="2026-07-12T22:47:44.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rgbClr val="A77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1EC60B-C292-F67C-2396-D4259DEA0F5F}"/>
              </a:ext>
            </a:extLst>
          </p:cNvPr>
          <p:cNvSpPr>
            <a:spLocks noGrp="1"/>
          </p:cNvSpPr>
          <p:nvPr>
            <p:ph type="ctrTitle"/>
          </p:nvPr>
        </p:nvSpPr>
        <p:spPr>
          <a:xfrm>
            <a:off x="1474683" y="1478893"/>
            <a:ext cx="9231410" cy="2141870"/>
          </a:xfrm>
        </p:spPr>
        <p:txBody>
          <a:bodyPr anchor="b">
            <a:normAutofit/>
          </a:bodyPr>
          <a:lstStyle/>
          <a:p>
            <a:pPr algn="l"/>
            <a:r>
              <a:rPr lang="en-US" sz="4000" b="1">
                <a:latin typeface="Rockwell"/>
                <a:cs typeface="Segoe UI"/>
              </a:rPr>
              <a:t>Karma’s Choice 2022 Growth Plan</a:t>
            </a:r>
          </a:p>
        </p:txBody>
      </p:sp>
      <p:sp>
        <p:nvSpPr>
          <p:cNvPr id="3" name="Subtitle 2">
            <a:extLst>
              <a:ext uri="{FF2B5EF4-FFF2-40B4-BE49-F238E27FC236}">
                <a16:creationId xmlns:a16="http://schemas.microsoft.com/office/drawing/2014/main" id="{5B490EAE-939D-0455-1162-A7643187358F}"/>
              </a:ext>
            </a:extLst>
          </p:cNvPr>
          <p:cNvSpPr>
            <a:spLocks noGrp="1"/>
          </p:cNvSpPr>
          <p:nvPr>
            <p:ph type="subTitle" idx="1"/>
          </p:nvPr>
        </p:nvSpPr>
        <p:spPr>
          <a:xfrm>
            <a:off x="2523491" y="3747789"/>
            <a:ext cx="7132335" cy="1196240"/>
          </a:xfrm>
        </p:spPr>
        <p:txBody>
          <a:bodyPr vert="horz" lIns="91440" tIns="45720" rIns="91440" bIns="45720" rtlCol="0" anchor="t">
            <a:normAutofit/>
          </a:bodyPr>
          <a:lstStyle/>
          <a:p>
            <a:r>
              <a:rPr lang="en-US">
                <a:latin typeface="Rockwell"/>
                <a:cs typeface="Segoe UI"/>
              </a:rPr>
              <a:t>By: Kofoworola </a:t>
            </a:r>
            <a:r>
              <a:rPr lang="en-US" err="1">
                <a:latin typeface="Rockwell"/>
                <a:cs typeface="Segoe UI"/>
              </a:rPr>
              <a:t>Ogutuga</a:t>
            </a:r>
          </a:p>
        </p:txBody>
      </p:sp>
      <p:sp>
        <p:nvSpPr>
          <p:cNvPr id="4" name="Rectangle 3">
            <a:extLst>
              <a:ext uri="{FF2B5EF4-FFF2-40B4-BE49-F238E27FC236}">
                <a16:creationId xmlns:a16="http://schemas.microsoft.com/office/drawing/2014/main" id="{45382EE6-C5DC-802A-A709-3E752765741B}"/>
              </a:ext>
            </a:extLst>
          </p:cNvPr>
          <p:cNvSpPr/>
          <p:nvPr/>
        </p:nvSpPr>
        <p:spPr>
          <a:xfrm flipV="1">
            <a:off x="2839106" y="3617516"/>
            <a:ext cx="6713483" cy="33771"/>
          </a:xfrm>
          <a:prstGeom prst="rect">
            <a:avLst/>
          </a:prstGeom>
          <a:solidFill>
            <a:srgbClr val="A776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0543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758DC-C15E-991C-FCAE-203120460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BD72C-D1FA-7B43-5224-710C9C756951}"/>
              </a:ext>
            </a:extLst>
          </p:cNvPr>
          <p:cNvSpPr>
            <a:spLocks noGrp="1"/>
          </p:cNvSpPr>
          <p:nvPr>
            <p:ph type="title"/>
          </p:nvPr>
        </p:nvSpPr>
        <p:spPr>
          <a:xfrm>
            <a:off x="838200" y="486042"/>
            <a:ext cx="10515600" cy="784713"/>
          </a:xfrm>
        </p:spPr>
        <p:txBody>
          <a:bodyPr>
            <a:normAutofit/>
          </a:bodyPr>
          <a:lstStyle/>
          <a:p>
            <a:pPr algn="ctr"/>
            <a:r>
              <a:rPr lang="en-US" sz="2000" b="1">
                <a:solidFill>
                  <a:srgbClr val="A776CC"/>
                </a:solidFill>
                <a:latin typeface="Rockwell"/>
                <a:ea typeface="+mj-lt"/>
                <a:cs typeface="+mj-lt"/>
              </a:rPr>
              <a:t>..     Executive Summary      ..</a:t>
            </a:r>
            <a:endParaRPr lang="en-US" sz="2000" b="1">
              <a:solidFill>
                <a:srgbClr val="A776CC"/>
              </a:solidFill>
              <a:latin typeface="Rockwell"/>
            </a:endParaRPr>
          </a:p>
        </p:txBody>
      </p:sp>
      <p:sp>
        <p:nvSpPr>
          <p:cNvPr id="5" name="Content Placeholder 2">
            <a:extLst>
              <a:ext uri="{FF2B5EF4-FFF2-40B4-BE49-F238E27FC236}">
                <a16:creationId xmlns:a16="http://schemas.microsoft.com/office/drawing/2014/main" id="{88E4866B-523F-18CA-ED4B-19B0438DEFC4}"/>
              </a:ext>
            </a:extLst>
          </p:cNvPr>
          <p:cNvSpPr txBox="1">
            <a:spLocks/>
          </p:cNvSpPr>
          <p:nvPr/>
        </p:nvSpPr>
        <p:spPr>
          <a:xfrm>
            <a:off x="1201019" y="1267406"/>
            <a:ext cx="9797443" cy="468724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400">
                <a:latin typeface="Segoe UI"/>
                <a:ea typeface="+mn-lt"/>
                <a:cs typeface="Segoe UI"/>
              </a:rPr>
              <a:t>An analysis and recommendations for Karma’s Choice as the company plans its 2022 strategy. Focus is on how customer experience, employee engagement, and market positioning can reach a 16% increase in revenue.</a:t>
            </a:r>
            <a:endParaRPr lang="en-US" sz="1400">
              <a:latin typeface="Segoe UI"/>
              <a:cs typeface="Segoe UI"/>
            </a:endParaRPr>
          </a:p>
          <a:p>
            <a:pPr marL="0" indent="0">
              <a:lnSpc>
                <a:spcPct val="100000"/>
              </a:lnSpc>
              <a:buNone/>
            </a:pPr>
            <a:r>
              <a:rPr lang="en-US" sz="1400">
                <a:latin typeface="Segoe UI"/>
                <a:ea typeface="+mn-lt"/>
                <a:cs typeface="Segoe UI"/>
              </a:rPr>
              <a:t>Customers rate the brand highly overall, but finding items is the weakest point. Employees are only moderately engaged, lowest being pride and retention. The brand is stronger than competitors on staff satisfaction, but weaker on product and loyalty. Employee engagement is worth funding because better employee experience lines up with better customer score. </a:t>
            </a:r>
          </a:p>
          <a:p>
            <a:pPr marL="0" indent="0">
              <a:lnSpc>
                <a:spcPct val="100000"/>
              </a:lnSpc>
              <a:buNone/>
            </a:pPr>
            <a:r>
              <a:rPr lang="en-US" sz="1400" dirty="0">
                <a:latin typeface="Segoe UI"/>
                <a:ea typeface="+mn-lt"/>
                <a:cs typeface="Segoe UI"/>
              </a:rPr>
              <a:t>My main recommendation is to keep the people advantage and fix the store layout. Karma’s Choice ROI will </a:t>
            </a:r>
            <a:r>
              <a:rPr lang="en-US" sz="1400">
                <a:latin typeface="Segoe UI"/>
                <a:ea typeface="+mn-lt"/>
                <a:cs typeface="Segoe UI"/>
              </a:rPr>
              <a:t>show up mostly through better retention, store layout, employee engagement, product availability, and more repeat visits rather than an immediate jump in average spend.</a:t>
            </a:r>
          </a:p>
          <a:p>
            <a:pPr marL="0" indent="0">
              <a:lnSpc>
                <a:spcPct val="100000"/>
              </a:lnSpc>
              <a:buNone/>
            </a:pPr>
            <a:r>
              <a:rPr lang="en-US" sz="1400">
                <a:latin typeface="Segoe UI"/>
                <a:ea typeface="+mn-lt"/>
                <a:cs typeface="Segoe UI"/>
              </a:rPr>
              <a:t>I reviewed 3 data sources to understand what is happening across the business.</a:t>
            </a:r>
            <a:endParaRPr lang="en-US" sz="1400">
              <a:latin typeface="Segoe UI"/>
              <a:cs typeface="Segoe UI"/>
            </a:endParaRPr>
          </a:p>
          <a:p>
            <a:pPr marL="971550" lvl="1" indent="-285750">
              <a:lnSpc>
                <a:spcPct val="100000"/>
              </a:lnSpc>
              <a:buFont typeface="Courier New,monospace"/>
              <a:buChar char="o"/>
            </a:pPr>
            <a:r>
              <a:rPr lang="en-US" sz="1400" b="1">
                <a:solidFill>
                  <a:srgbClr val="A776CC"/>
                </a:solidFill>
                <a:latin typeface="Segoe UI"/>
                <a:ea typeface="+mn-lt"/>
                <a:cs typeface="Segoe UI"/>
              </a:rPr>
              <a:t>CX</a:t>
            </a:r>
            <a:r>
              <a:rPr lang="en-US" sz="1400" dirty="0">
                <a:solidFill>
                  <a:srgbClr val="A776CC"/>
                </a:solidFill>
                <a:latin typeface="Segoe UI"/>
                <a:ea typeface="+mn-lt"/>
                <a:cs typeface="Segoe UI"/>
              </a:rPr>
              <a:t> </a:t>
            </a:r>
            <a:r>
              <a:rPr lang="en-US" sz="1400">
                <a:latin typeface="Segoe UI"/>
                <a:ea typeface="+mn-lt"/>
                <a:cs typeface="Segoe UI"/>
              </a:rPr>
              <a:t>shows 27,174 customer responses from receipt surveys </a:t>
            </a:r>
            <a:endParaRPr lang="en-US" sz="1400">
              <a:latin typeface="Segoe UI"/>
              <a:cs typeface="Segoe UI"/>
            </a:endParaRPr>
          </a:p>
          <a:p>
            <a:pPr marL="971550" lvl="1" indent="-285750">
              <a:lnSpc>
                <a:spcPct val="100000"/>
              </a:lnSpc>
              <a:buFont typeface="Courier New,monospace"/>
              <a:buChar char="o"/>
            </a:pPr>
            <a:r>
              <a:rPr lang="en-US" sz="1400" b="1">
                <a:solidFill>
                  <a:srgbClr val="A776CC"/>
                </a:solidFill>
                <a:latin typeface="Segoe UI"/>
                <a:ea typeface="+mn-lt"/>
                <a:cs typeface="Segoe UI"/>
              </a:rPr>
              <a:t>EX</a:t>
            </a:r>
            <a:r>
              <a:rPr lang="en-US" sz="1400" dirty="0">
                <a:solidFill>
                  <a:srgbClr val="A776CC"/>
                </a:solidFill>
                <a:latin typeface="Segoe UI"/>
                <a:ea typeface="+mn-lt"/>
                <a:cs typeface="Segoe UI"/>
              </a:rPr>
              <a:t> </a:t>
            </a:r>
            <a:r>
              <a:rPr lang="en-US" sz="1400">
                <a:latin typeface="Segoe UI"/>
                <a:ea typeface="+mn-lt"/>
                <a:cs typeface="Segoe UI"/>
              </a:rPr>
              <a:t>shows 80 employee responses from email surveys </a:t>
            </a:r>
            <a:endParaRPr lang="en-US" sz="1400">
              <a:latin typeface="Segoe UI"/>
              <a:cs typeface="Segoe UI"/>
            </a:endParaRPr>
          </a:p>
          <a:p>
            <a:pPr marL="971550" lvl="1" indent="-285750">
              <a:lnSpc>
                <a:spcPct val="100000"/>
              </a:lnSpc>
              <a:buFont typeface="Courier New,monospace"/>
              <a:buChar char="o"/>
            </a:pPr>
            <a:r>
              <a:rPr lang="en-US" sz="1400" b="1">
                <a:solidFill>
                  <a:srgbClr val="A776CC"/>
                </a:solidFill>
                <a:latin typeface="Segoe UI"/>
                <a:ea typeface="+mn-lt"/>
                <a:cs typeface="Segoe UI"/>
              </a:rPr>
              <a:t>MX</a:t>
            </a:r>
            <a:r>
              <a:rPr lang="en-US" sz="1400" dirty="0">
                <a:solidFill>
                  <a:srgbClr val="A776CC"/>
                </a:solidFill>
                <a:latin typeface="Segoe UI"/>
                <a:ea typeface="+mn-lt"/>
                <a:cs typeface="Segoe UI"/>
              </a:rPr>
              <a:t> </a:t>
            </a:r>
            <a:r>
              <a:rPr lang="en-US" sz="1400">
                <a:latin typeface="Segoe UI"/>
                <a:ea typeface="+mn-lt"/>
                <a:cs typeface="Segoe UI"/>
              </a:rPr>
              <a:t>shows how Karma’s Choice compares to 9 competitors in the market </a:t>
            </a:r>
          </a:p>
          <a:p>
            <a:pPr marL="971550" lvl="1" indent="-285750">
              <a:lnSpc>
                <a:spcPct val="100000"/>
              </a:lnSpc>
              <a:buFont typeface="Courier New,monospace"/>
              <a:buChar char="o"/>
            </a:pPr>
            <a:r>
              <a:rPr lang="en-US" sz="1400">
                <a:latin typeface="Segoe UI"/>
                <a:ea typeface="+mn-lt"/>
                <a:cs typeface="Segoe UI"/>
              </a:rPr>
              <a:t>CX is based on a 5-point Likert scale plus transaction dollars. </a:t>
            </a:r>
          </a:p>
          <a:p>
            <a:pPr marL="971550" lvl="1" indent="-285750">
              <a:lnSpc>
                <a:spcPct val="100000"/>
              </a:lnSpc>
              <a:buFont typeface="Courier New,monospace"/>
              <a:buChar char="o"/>
            </a:pPr>
            <a:r>
              <a:rPr lang="en-US" sz="1400">
                <a:latin typeface="Segoe UI"/>
                <a:ea typeface="+mn-lt"/>
                <a:cs typeface="Segoe UI"/>
              </a:rPr>
              <a:t>EX and MX use top-box style competitive scores. </a:t>
            </a:r>
          </a:p>
          <a:p>
            <a:pPr marL="971550" lvl="1" indent="-285750">
              <a:lnSpc>
                <a:spcPct val="100000"/>
              </a:lnSpc>
              <a:buFont typeface="Courier New,monospace"/>
              <a:buChar char="o"/>
            </a:pPr>
            <a:r>
              <a:rPr lang="en-US" sz="1400" dirty="0">
                <a:latin typeface="Segoe UI"/>
                <a:ea typeface="+mn-lt"/>
                <a:cs typeface="Segoe UI"/>
              </a:rPr>
              <a:t>I looked for patterns between satisfaction, behavior, and spending to find the </a:t>
            </a:r>
            <a:r>
              <a:rPr lang="en-US" sz="1400">
                <a:latin typeface="Segoe UI"/>
                <a:ea typeface="+mn-lt"/>
                <a:cs typeface="Segoe UI"/>
              </a:rPr>
              <a:t>strongest growth opportunities.</a:t>
            </a:r>
          </a:p>
          <a:p>
            <a:pPr marL="0" indent="0">
              <a:lnSpc>
                <a:spcPct val="100000"/>
              </a:lnSpc>
              <a:buNone/>
            </a:pPr>
            <a:r>
              <a:rPr lang="en-US" sz="1400">
                <a:latin typeface="Segoe UI"/>
                <a:ea typeface="+mn-lt"/>
                <a:cs typeface="Segoe UI"/>
              </a:rPr>
              <a:t>I used these 3 datasets to answer three questions:</a:t>
            </a:r>
            <a:endParaRPr lang="en-US" sz="1400" dirty="0">
              <a:latin typeface="Segoe UI"/>
              <a:cs typeface="Segoe UI"/>
            </a:endParaRPr>
          </a:p>
          <a:p>
            <a:pPr marL="971550" lvl="1" indent="-285750">
              <a:lnSpc>
                <a:spcPct val="100000"/>
              </a:lnSpc>
              <a:buFont typeface="Courier New,monospace"/>
              <a:buChar char="o"/>
            </a:pPr>
            <a:r>
              <a:rPr lang="en-US" sz="1400">
                <a:latin typeface="Segoe UI"/>
                <a:ea typeface="+mn-lt"/>
                <a:cs typeface="Segoe UI"/>
              </a:rPr>
              <a:t>Is employee engagement a smart investment? </a:t>
            </a:r>
            <a:r>
              <a:rPr lang="en-US" sz="1400" b="1">
                <a:solidFill>
                  <a:srgbClr val="A776CC"/>
                </a:solidFill>
                <a:latin typeface="Segoe UI"/>
                <a:ea typeface="+mn-lt"/>
                <a:cs typeface="Segoe UI"/>
              </a:rPr>
              <a:t>Yes</a:t>
            </a:r>
            <a:endParaRPr lang="en-US" sz="1400">
              <a:latin typeface="Segoe UI"/>
              <a:cs typeface="Segoe UI"/>
            </a:endParaRPr>
          </a:p>
          <a:p>
            <a:pPr marL="971550" lvl="1" indent="-285750">
              <a:lnSpc>
                <a:spcPct val="100000"/>
              </a:lnSpc>
              <a:buFont typeface="Courier New,monospace"/>
              <a:buChar char="o"/>
            </a:pPr>
            <a:r>
              <a:rPr lang="en-US" sz="1400">
                <a:latin typeface="Segoe UI"/>
                <a:ea typeface="+mn-lt"/>
                <a:cs typeface="Segoe UI"/>
              </a:rPr>
              <a:t>Was the store layout and self-checkout investment effective? </a:t>
            </a:r>
            <a:r>
              <a:rPr lang="en-US" sz="1400" b="1">
                <a:solidFill>
                  <a:srgbClr val="A776CC"/>
                </a:solidFill>
                <a:latin typeface="Segoe UI"/>
                <a:ea typeface="+mn-lt"/>
                <a:cs typeface="Segoe UI"/>
              </a:rPr>
              <a:t>Yes, needs more</a:t>
            </a:r>
            <a:endParaRPr lang="en-US" sz="1400">
              <a:latin typeface="Segoe UI"/>
              <a:cs typeface="Segoe UI"/>
            </a:endParaRPr>
          </a:p>
          <a:p>
            <a:pPr marL="971550" lvl="1" indent="-285750">
              <a:lnSpc>
                <a:spcPct val="100000"/>
              </a:lnSpc>
              <a:buFont typeface="Courier New,monospace"/>
              <a:buChar char="o"/>
            </a:pPr>
            <a:r>
              <a:rPr lang="en-US" sz="1400">
                <a:latin typeface="Segoe UI"/>
                <a:ea typeface="+mn-lt"/>
                <a:cs typeface="Segoe UI"/>
              </a:rPr>
              <a:t>What else can improve retention and financial growth? </a:t>
            </a:r>
            <a:r>
              <a:rPr lang="en-US" sz="1400" b="1">
                <a:solidFill>
                  <a:srgbClr val="A776CC"/>
                </a:solidFill>
                <a:latin typeface="Segoe UI"/>
                <a:ea typeface="+mn-lt"/>
                <a:cs typeface="Segoe UI"/>
              </a:rPr>
              <a:t>...</a:t>
            </a:r>
            <a:endParaRPr lang="en-US" sz="1400">
              <a:latin typeface="Segoe UI"/>
              <a:cs typeface="Segoe UI"/>
            </a:endParaRPr>
          </a:p>
          <a:p>
            <a:pPr marL="0" indent="0">
              <a:lnSpc>
                <a:spcPct val="100000"/>
              </a:lnSpc>
              <a:buFont typeface="Arial" panose="020B0604020202020204" pitchFamily="34" charset="0"/>
              <a:buNone/>
            </a:pPr>
            <a:endParaRPr lang="en-US" sz="1400">
              <a:latin typeface="Segoe UI"/>
              <a:cs typeface="Segoe UI"/>
            </a:endParaRPr>
          </a:p>
        </p:txBody>
      </p:sp>
    </p:spTree>
    <p:extLst>
      <p:ext uri="{BB962C8B-B14F-4D97-AF65-F5344CB8AC3E}">
        <p14:creationId xmlns:p14="http://schemas.microsoft.com/office/powerpoint/2010/main" val="529241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56613-2CEF-2486-B749-BA842C11AB93}"/>
              </a:ext>
            </a:extLst>
          </p:cNvPr>
          <p:cNvSpPr>
            <a:spLocks noGrp="1"/>
          </p:cNvSpPr>
          <p:nvPr>
            <p:ph type="title"/>
          </p:nvPr>
        </p:nvSpPr>
        <p:spPr>
          <a:xfrm>
            <a:off x="824345" y="697633"/>
            <a:ext cx="10515600" cy="674397"/>
          </a:xfrm>
        </p:spPr>
        <p:txBody>
          <a:bodyPr>
            <a:normAutofit/>
          </a:bodyPr>
          <a:lstStyle/>
          <a:p>
            <a:pPr algn="ctr"/>
            <a:r>
              <a:rPr lang="en-US" sz="2000" b="1">
                <a:solidFill>
                  <a:srgbClr val="A776CC"/>
                </a:solidFill>
                <a:latin typeface="Rockwell"/>
                <a:ea typeface="+mj-lt"/>
                <a:cs typeface="+mj-lt"/>
              </a:rPr>
              <a:t>..      Customer Experience      ..</a:t>
            </a:r>
            <a:endParaRPr lang="en-US" sz="2000" b="1">
              <a:solidFill>
                <a:srgbClr val="A776CC"/>
              </a:solidFill>
              <a:latin typeface="Rockwell"/>
            </a:endParaRPr>
          </a:p>
        </p:txBody>
      </p:sp>
      <p:sp>
        <p:nvSpPr>
          <p:cNvPr id="4" name="TextBox 3">
            <a:extLst>
              <a:ext uri="{FF2B5EF4-FFF2-40B4-BE49-F238E27FC236}">
                <a16:creationId xmlns:a16="http://schemas.microsoft.com/office/drawing/2014/main" id="{B4D02161-FC81-068F-D30B-97C4FE3D573D}"/>
              </a:ext>
            </a:extLst>
          </p:cNvPr>
          <p:cNvSpPr txBox="1"/>
          <p:nvPr/>
        </p:nvSpPr>
        <p:spPr>
          <a:xfrm>
            <a:off x="1208366" y="1368757"/>
            <a:ext cx="977491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solidFill>
                  <a:srgbClr val="000000"/>
                </a:solidFill>
                <a:latin typeface="Segoe UI"/>
                <a:ea typeface="+mn-lt"/>
                <a:cs typeface="Segoe UI"/>
              </a:rPr>
              <a:t>The customer experience data shows that Karma’s Choice performs strongly overall, but the one major issue Is Item findability. This tells me that customers like the service, but the shopping around the store is what's creating the problem.</a:t>
            </a:r>
            <a:endParaRPr lang="en-US" dirty="0"/>
          </a:p>
          <a:p>
            <a:pPr algn="just"/>
            <a:endParaRPr lang="en-US" sz="1400" dirty="0">
              <a:solidFill>
                <a:srgbClr val="000000"/>
              </a:solidFill>
              <a:latin typeface="Segoe UI"/>
              <a:ea typeface="+mn-lt"/>
              <a:cs typeface="Segoe UI"/>
            </a:endParaRPr>
          </a:p>
          <a:p>
            <a:pPr marL="742950" lvl="1" indent="-285750" algn="just">
              <a:buFont typeface="Courier New"/>
              <a:buChar char="o"/>
            </a:pPr>
            <a:r>
              <a:rPr lang="en-US" sz="1400" dirty="0">
                <a:solidFill>
                  <a:srgbClr val="000000"/>
                </a:solidFill>
                <a:latin typeface="Segoe UI"/>
                <a:ea typeface="+mn-lt"/>
                <a:cs typeface="Segoe UI"/>
              </a:rPr>
              <a:t>Overall satisfaction is very high at 4.90 / 5 </a:t>
            </a:r>
            <a:endParaRPr lang="en-US" sz="1400" dirty="0">
              <a:latin typeface="Segoe UI"/>
              <a:cs typeface="Segoe UI"/>
            </a:endParaRPr>
          </a:p>
          <a:p>
            <a:pPr marL="742950" lvl="1" indent="-285750" algn="just">
              <a:buFont typeface="Courier New"/>
              <a:buChar char="o"/>
            </a:pPr>
            <a:r>
              <a:rPr lang="en-US" sz="1400">
                <a:solidFill>
                  <a:srgbClr val="000000"/>
                </a:solidFill>
                <a:latin typeface="Segoe UI"/>
                <a:ea typeface="+mn-lt"/>
                <a:cs typeface="Segoe UI"/>
              </a:rPr>
              <a:t>Likelihood to return is also strong at 4.45 / 5 </a:t>
            </a:r>
            <a:endParaRPr lang="en-US" sz="1400">
              <a:latin typeface="Segoe UI"/>
              <a:cs typeface="Segoe UI"/>
            </a:endParaRPr>
          </a:p>
          <a:p>
            <a:pPr marL="742950" lvl="1" indent="-285750" algn="just">
              <a:buFont typeface="Courier New"/>
              <a:buChar char="o"/>
            </a:pPr>
            <a:r>
              <a:rPr lang="en-US" sz="1400">
                <a:solidFill>
                  <a:srgbClr val="000000"/>
                </a:solidFill>
                <a:latin typeface="Segoe UI"/>
                <a:ea typeface="+mn-lt"/>
                <a:cs typeface="Segoe UI"/>
              </a:rPr>
              <a:t>Staff related scores are strong at 4.35 / 5 in genuine, knowledgeable, and helpful service </a:t>
            </a:r>
            <a:endParaRPr lang="en-US" sz="1400">
              <a:latin typeface="Segoe UI"/>
              <a:cs typeface="Segoe UI"/>
            </a:endParaRPr>
          </a:p>
          <a:p>
            <a:pPr marL="742950" lvl="1" indent="-285750" algn="just">
              <a:buFont typeface="Courier New"/>
              <a:buChar char="o"/>
            </a:pPr>
            <a:r>
              <a:rPr lang="en-US" sz="1400">
                <a:solidFill>
                  <a:srgbClr val="000000"/>
                </a:solidFill>
                <a:latin typeface="Segoe UI"/>
                <a:ea typeface="+mn-lt"/>
                <a:cs typeface="Segoe UI"/>
              </a:rPr>
              <a:t>The weakest score is easy to find items at 2.94 / 5 </a:t>
            </a:r>
            <a:endParaRPr lang="en-US" sz="1400">
              <a:latin typeface="Segoe UI"/>
              <a:cs typeface="Segoe UI"/>
            </a:endParaRPr>
          </a:p>
        </p:txBody>
      </p:sp>
      <p:pic>
        <p:nvPicPr>
          <p:cNvPr id="7" name="Picture 6" descr="A graph of customer scores&#10;&#10;AI-generated content may be incorrect.">
            <a:extLst>
              <a:ext uri="{FF2B5EF4-FFF2-40B4-BE49-F238E27FC236}">
                <a16:creationId xmlns:a16="http://schemas.microsoft.com/office/drawing/2014/main" id="{E26B2CAC-5939-4ADC-B55F-8711E1D950FE}"/>
              </a:ext>
            </a:extLst>
          </p:cNvPr>
          <p:cNvPicPr>
            <a:picLocks noChangeAspect="1"/>
          </p:cNvPicPr>
          <p:nvPr/>
        </p:nvPicPr>
        <p:blipFill>
          <a:blip r:embed="rId2"/>
          <a:stretch>
            <a:fillRect/>
          </a:stretch>
        </p:blipFill>
        <p:spPr>
          <a:xfrm>
            <a:off x="405868" y="3174600"/>
            <a:ext cx="11360727" cy="3482552"/>
          </a:xfrm>
          <a:prstGeom prst="rect">
            <a:avLst/>
          </a:prstGeom>
        </p:spPr>
      </p:pic>
    </p:spTree>
    <p:extLst>
      <p:ext uri="{BB962C8B-B14F-4D97-AF65-F5344CB8AC3E}">
        <p14:creationId xmlns:p14="http://schemas.microsoft.com/office/powerpoint/2010/main" val="2171871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06B45-8D0E-5E9B-0C2E-EEF488BA1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9D038-5046-9690-1E14-1456F6109F84}"/>
              </a:ext>
            </a:extLst>
          </p:cNvPr>
          <p:cNvSpPr>
            <a:spLocks noGrp="1"/>
          </p:cNvSpPr>
          <p:nvPr>
            <p:ph type="title"/>
          </p:nvPr>
        </p:nvSpPr>
        <p:spPr>
          <a:xfrm>
            <a:off x="838200" y="365125"/>
            <a:ext cx="10515600" cy="973138"/>
          </a:xfrm>
        </p:spPr>
        <p:txBody>
          <a:bodyPr>
            <a:normAutofit/>
          </a:bodyPr>
          <a:lstStyle/>
          <a:p>
            <a:pPr algn="ctr"/>
            <a:r>
              <a:rPr lang="en-US" sz="2000" b="1">
                <a:solidFill>
                  <a:srgbClr val="A776CC"/>
                </a:solidFill>
                <a:latin typeface="Rockwell"/>
              </a:rPr>
              <a:t>..      What Drives Spend &amp; Retention      ..</a:t>
            </a:r>
          </a:p>
        </p:txBody>
      </p:sp>
      <p:sp>
        <p:nvSpPr>
          <p:cNvPr id="4" name="TextBox 3">
            <a:extLst>
              <a:ext uri="{FF2B5EF4-FFF2-40B4-BE49-F238E27FC236}">
                <a16:creationId xmlns:a16="http://schemas.microsoft.com/office/drawing/2014/main" id="{22613071-DBD8-C5BB-6A23-AFAE92D2C7E8}"/>
              </a:ext>
            </a:extLst>
          </p:cNvPr>
          <p:cNvSpPr txBox="1"/>
          <p:nvPr/>
        </p:nvSpPr>
        <p:spPr>
          <a:xfrm>
            <a:off x="1049704" y="1069509"/>
            <a:ext cx="10088506" cy="2237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b="1">
                <a:solidFill>
                  <a:srgbClr val="A776CC"/>
                </a:solidFill>
                <a:latin typeface="Segoe UI"/>
                <a:cs typeface="Segoe UI"/>
              </a:rPr>
              <a:t>Improving experience increases financial performance.</a:t>
            </a:r>
            <a:endParaRPr lang="en-US"/>
          </a:p>
          <a:p>
            <a:pPr algn="just"/>
            <a:r>
              <a:rPr lang="en-US" sz="1400" dirty="0">
                <a:latin typeface="Segoe UI"/>
                <a:cs typeface="Segoe UI"/>
              </a:rPr>
              <a:t>My analysis shows that average transaction amount is $71.65 and that spends connection to satisfaction scores is very low. My view is that employee engagement can support revenue, but the biggest effect is indirect. Employee engagement helps protect service quality and customer retention. It does not automatically raise average spend on its own. </a:t>
            </a:r>
            <a:r>
              <a:rPr lang="en-US" sz="1400" dirty="0">
                <a:latin typeface="Segoe UI"/>
                <a:ea typeface="+mn-lt"/>
                <a:cs typeface="Segoe UI"/>
              </a:rPr>
              <a:t>Customers are more likely to spend and return when they're happier about the store, and the thing currently holding back Karma's choice is its item findability and availability. Improving product availability and item findability is needed to get that ROI.</a:t>
            </a:r>
            <a:endParaRPr lang="en-US" dirty="0"/>
          </a:p>
          <a:p>
            <a:pPr algn="just"/>
            <a:endParaRPr lang="en-US" sz="1400">
              <a:latin typeface="Segoe UI"/>
              <a:cs typeface="Segoe UI"/>
            </a:endParaRPr>
          </a:p>
          <a:p>
            <a:pPr marL="742950" lvl="1" indent="-285750" algn="just">
              <a:buFont typeface="Arial"/>
              <a:buChar char="•"/>
            </a:pPr>
            <a:r>
              <a:rPr lang="en-US" sz="1400">
                <a:latin typeface="Segoe UI"/>
                <a:cs typeface="Segoe UI"/>
              </a:rPr>
              <a:t>Customers who feel better about the store are more likely to return </a:t>
            </a:r>
          </a:p>
          <a:p>
            <a:pPr marL="742950" lvl="1" indent="-285750" algn="just">
              <a:buFont typeface="Arial"/>
              <a:buChar char="•"/>
            </a:pPr>
            <a:r>
              <a:rPr lang="en-US" sz="1400">
                <a:latin typeface="Segoe UI"/>
                <a:cs typeface="Segoe UI"/>
              </a:rPr>
              <a:t>Customers with better return intent also show stronger overall satisfaction </a:t>
            </a:r>
          </a:p>
          <a:p>
            <a:pPr marL="742950" lvl="1" indent="-285750" algn="just">
              <a:buFont typeface="Arial"/>
              <a:buChar char="•"/>
            </a:pPr>
            <a:r>
              <a:rPr lang="en-US" sz="1400">
                <a:latin typeface="Segoe UI"/>
                <a:cs typeface="Segoe UI"/>
              </a:rPr>
              <a:t>Return intent and satisfaction is stronger when product are available.</a:t>
            </a:r>
          </a:p>
        </p:txBody>
      </p:sp>
      <p:pic>
        <p:nvPicPr>
          <p:cNvPr id="5" name="Picture 4" descr="A screenshot of a graph&#10;&#10;AI-generated content may be incorrect.">
            <a:extLst>
              <a:ext uri="{FF2B5EF4-FFF2-40B4-BE49-F238E27FC236}">
                <a16:creationId xmlns:a16="http://schemas.microsoft.com/office/drawing/2014/main" id="{41816697-16FD-8E8E-88D5-EDDE4D154142}"/>
              </a:ext>
            </a:extLst>
          </p:cNvPr>
          <p:cNvPicPr>
            <a:picLocks noChangeAspect="1"/>
          </p:cNvPicPr>
          <p:nvPr/>
        </p:nvPicPr>
        <p:blipFill>
          <a:blip r:embed="rId2"/>
          <a:stretch>
            <a:fillRect/>
          </a:stretch>
        </p:blipFill>
        <p:spPr>
          <a:xfrm>
            <a:off x="609600" y="3428717"/>
            <a:ext cx="10963275" cy="3424849"/>
          </a:xfrm>
          <a:prstGeom prst="rect">
            <a:avLst/>
          </a:prstGeom>
        </p:spPr>
      </p:pic>
    </p:spTree>
    <p:extLst>
      <p:ext uri="{BB962C8B-B14F-4D97-AF65-F5344CB8AC3E}">
        <p14:creationId xmlns:p14="http://schemas.microsoft.com/office/powerpoint/2010/main" val="4049597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0829F-C990-53CE-BDD3-3A19D58173A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30A27A5-186D-2689-B0F2-CB5D307B2CFB}"/>
              </a:ext>
            </a:extLst>
          </p:cNvPr>
          <p:cNvSpPr txBox="1"/>
          <p:nvPr/>
        </p:nvSpPr>
        <p:spPr>
          <a:xfrm>
            <a:off x="867050" y="750756"/>
            <a:ext cx="10475655"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rgbClr val="A776CC"/>
                </a:solidFill>
                <a:latin typeface="Rockwell"/>
                <a:ea typeface="Segoe UI"/>
                <a:cs typeface="Segoe UI"/>
              </a:rPr>
              <a:t>..      Employee Engagement &amp; ROI      ..</a:t>
            </a:r>
            <a:endParaRPr lang="en-US" sz="2000">
              <a:solidFill>
                <a:srgbClr val="000000"/>
              </a:solidFill>
              <a:latin typeface="Rockwell"/>
              <a:ea typeface="Segoe UI"/>
              <a:cs typeface="Segoe UI"/>
            </a:endParaRPr>
          </a:p>
          <a:p>
            <a:endParaRPr lang="en-US" sz="1400" b="1" dirty="0">
              <a:solidFill>
                <a:srgbClr val="A776CC"/>
              </a:solidFill>
              <a:latin typeface="Segoe UI"/>
              <a:ea typeface="Segoe UI"/>
              <a:cs typeface="Segoe UI"/>
            </a:endParaRPr>
          </a:p>
          <a:p>
            <a:r>
              <a:rPr lang="en-US" sz="1400" b="1" i="0" u="none" strike="noStrike" baseline="0">
                <a:solidFill>
                  <a:srgbClr val="A776CC"/>
                </a:solidFill>
                <a:latin typeface="Segoe UI"/>
                <a:ea typeface="Segoe UI"/>
                <a:cs typeface="Segoe UI"/>
              </a:rPr>
              <a:t>Is Employee Engagement</a:t>
            </a:r>
            <a:r>
              <a:rPr lang="en-US" sz="1400" b="1">
                <a:solidFill>
                  <a:srgbClr val="A776CC"/>
                </a:solidFill>
                <a:latin typeface="Segoe UI"/>
                <a:ea typeface="Segoe UI"/>
                <a:cs typeface="Segoe UI"/>
              </a:rPr>
              <a:t> </a:t>
            </a:r>
            <a:r>
              <a:rPr lang="en-US" sz="1400" b="1" i="0" u="none" strike="noStrike" baseline="0">
                <a:solidFill>
                  <a:srgbClr val="A776CC"/>
                </a:solidFill>
                <a:latin typeface="Segoe UI"/>
                <a:ea typeface="Segoe UI"/>
                <a:cs typeface="Segoe UI"/>
              </a:rPr>
              <a:t> Worth the Investment?</a:t>
            </a:r>
            <a:r>
              <a:rPr lang="en-US" sz="1400" b="1" i="0">
                <a:solidFill>
                  <a:srgbClr val="A776CC"/>
                </a:solidFill>
                <a:latin typeface="Segoe UI"/>
                <a:ea typeface="Segoe UI"/>
                <a:cs typeface="Segoe UI"/>
              </a:rPr>
              <a:t>​</a:t>
            </a:r>
            <a:r>
              <a:rPr lang="en-US" sz="1400" b="1">
                <a:solidFill>
                  <a:srgbClr val="A776CC"/>
                </a:solidFill>
                <a:latin typeface="Segoe UI"/>
                <a:ea typeface="Segoe UI"/>
                <a:cs typeface="Segoe UI"/>
              </a:rPr>
              <a:t>   Yes</a:t>
            </a:r>
            <a:endParaRPr lang="en-US"/>
          </a:p>
          <a:p>
            <a:endParaRPr lang="en-US" sz="1400">
              <a:solidFill>
                <a:srgbClr val="000000"/>
              </a:solidFill>
              <a:latin typeface="Segoe UI"/>
              <a:ea typeface="Segoe UI"/>
              <a:cs typeface="Segoe UI"/>
            </a:endParaRPr>
          </a:p>
          <a:p>
            <a:pPr algn="just"/>
            <a:r>
              <a:rPr lang="en-US" sz="1400" b="0" i="0" u="none" strike="noStrike" baseline="0">
                <a:solidFill>
                  <a:srgbClr val="000000"/>
                </a:solidFill>
                <a:latin typeface="Segoe UI"/>
                <a:ea typeface="Segoe UI"/>
                <a:cs typeface="Segoe UI"/>
              </a:rPr>
              <a:t>I do think employee engagement is a </a:t>
            </a:r>
            <a:r>
              <a:rPr lang="en-US" sz="1400">
                <a:solidFill>
                  <a:srgbClr val="000000"/>
                </a:solidFill>
                <a:latin typeface="Segoe UI"/>
                <a:ea typeface="Segoe UI"/>
                <a:cs typeface="Segoe UI"/>
              </a:rPr>
              <a:t>promising</a:t>
            </a:r>
            <a:r>
              <a:rPr lang="en-US" sz="1400" b="0" i="0" u="none" strike="noStrike" baseline="0">
                <a:solidFill>
                  <a:srgbClr val="000000"/>
                </a:solidFill>
                <a:latin typeface="Segoe UI"/>
                <a:ea typeface="Segoe UI"/>
                <a:cs typeface="Segoe UI"/>
              </a:rPr>
              <a:t> investment. </a:t>
            </a:r>
            <a:r>
              <a:rPr lang="en-US" sz="1400">
                <a:solidFill>
                  <a:srgbClr val="000000"/>
                </a:solidFill>
                <a:latin typeface="Segoe UI"/>
                <a:ea typeface="Segoe UI"/>
                <a:cs typeface="Segoe UI"/>
              </a:rPr>
              <a:t>Employees directly influence the customer experience at every step of the store visit. </a:t>
            </a:r>
            <a:r>
              <a:rPr lang="en-US" sz="1400" b="0" i="0" u="none" strike="noStrike" baseline="0">
                <a:solidFill>
                  <a:srgbClr val="000000"/>
                </a:solidFill>
                <a:latin typeface="Segoe UI"/>
                <a:ea typeface="Segoe UI"/>
                <a:cs typeface="Segoe UI"/>
              </a:rPr>
              <a:t>Stores with stronger employee participation </a:t>
            </a:r>
            <a:r>
              <a:rPr lang="en-US" sz="1400">
                <a:solidFill>
                  <a:srgbClr val="000000"/>
                </a:solidFill>
                <a:latin typeface="Segoe UI"/>
                <a:ea typeface="Segoe UI"/>
                <a:cs typeface="Segoe UI"/>
              </a:rPr>
              <a:t>show higher</a:t>
            </a:r>
            <a:r>
              <a:rPr lang="en-US" sz="1400" b="0" i="0" u="none" strike="noStrike" baseline="0">
                <a:solidFill>
                  <a:srgbClr val="000000"/>
                </a:solidFill>
                <a:latin typeface="Segoe UI"/>
                <a:ea typeface="Segoe UI"/>
                <a:cs typeface="Segoe UI"/>
              </a:rPr>
              <a:t> average customer spend. Customers with the highest likelihood to return spend about $71.91, </a:t>
            </a:r>
            <a:r>
              <a:rPr lang="en-US" sz="1400">
                <a:solidFill>
                  <a:srgbClr val="000000"/>
                </a:solidFill>
                <a:latin typeface="Segoe UI"/>
                <a:ea typeface="Segoe UI"/>
                <a:cs typeface="Segoe UI"/>
              </a:rPr>
              <a:t>while the</a:t>
            </a:r>
            <a:r>
              <a:rPr lang="en-US" sz="1400" b="0" i="0" u="none" strike="noStrike" baseline="0">
                <a:solidFill>
                  <a:srgbClr val="000000"/>
                </a:solidFill>
                <a:latin typeface="Segoe UI"/>
                <a:ea typeface="Segoe UI"/>
                <a:cs typeface="Segoe UI"/>
              </a:rPr>
              <a:t> lowest loyalty group spends about $54.60 on average. That tells me engagement supports retention </a:t>
            </a:r>
            <a:r>
              <a:rPr lang="en-US" sz="1400">
                <a:solidFill>
                  <a:srgbClr val="000000"/>
                </a:solidFill>
                <a:latin typeface="Segoe UI"/>
                <a:ea typeface="Segoe UI"/>
                <a:cs typeface="Segoe UI"/>
              </a:rPr>
              <a:t>and repeat</a:t>
            </a:r>
            <a:r>
              <a:rPr lang="en-US" sz="1400" b="0" i="0" u="none" strike="noStrike" baseline="0">
                <a:solidFill>
                  <a:srgbClr val="000000"/>
                </a:solidFill>
                <a:latin typeface="Segoe UI"/>
                <a:ea typeface="Segoe UI"/>
                <a:cs typeface="Segoe UI"/>
              </a:rPr>
              <a:t> buying, even if it does not create an instant jump in spend. My view is that employee engagement is </a:t>
            </a:r>
            <a:r>
              <a:rPr lang="en-US" sz="1400">
                <a:solidFill>
                  <a:srgbClr val="000000"/>
                </a:solidFill>
                <a:latin typeface="Segoe UI"/>
                <a:ea typeface="Segoe UI"/>
                <a:cs typeface="Segoe UI"/>
              </a:rPr>
              <a:t>a medium</a:t>
            </a:r>
            <a:r>
              <a:rPr lang="en-US" sz="1400" b="0" i="0" u="none" strike="noStrike" baseline="0">
                <a:solidFill>
                  <a:srgbClr val="000000"/>
                </a:solidFill>
                <a:latin typeface="Segoe UI"/>
                <a:ea typeface="Segoe UI"/>
                <a:cs typeface="Segoe UI"/>
              </a:rPr>
              <a:t> to long-term ROI play, not a quick win by itself. </a:t>
            </a:r>
            <a:endParaRPr lang="en-US" sz="1400">
              <a:latin typeface="Segoe UI"/>
              <a:cs typeface="Segoe UI"/>
            </a:endParaRPr>
          </a:p>
        </p:txBody>
      </p:sp>
      <p:sp>
        <p:nvSpPr>
          <p:cNvPr id="6" name="TextBox 5">
            <a:extLst>
              <a:ext uri="{FF2B5EF4-FFF2-40B4-BE49-F238E27FC236}">
                <a16:creationId xmlns:a16="http://schemas.microsoft.com/office/drawing/2014/main" id="{F4985E82-44E1-E0BE-C93E-0DBCDC5FA75E}"/>
              </a:ext>
            </a:extLst>
          </p:cNvPr>
          <p:cNvSpPr txBox="1"/>
          <p:nvPr/>
        </p:nvSpPr>
        <p:spPr>
          <a:xfrm>
            <a:off x="865339" y="2869979"/>
            <a:ext cx="3907618"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0" i="0" u="none" strike="noStrike" baseline="0">
                <a:solidFill>
                  <a:srgbClr val="000000"/>
                </a:solidFill>
                <a:latin typeface="Segoe UI"/>
                <a:ea typeface="Segoe UI"/>
                <a:cs typeface="Segoe UI"/>
              </a:rPr>
              <a:t>Despite customer reviews, the EX-data shows good satisfaction, but weak emotional attachment. Karma’s </a:t>
            </a:r>
            <a:r>
              <a:rPr lang="en-US" sz="1400">
                <a:solidFill>
                  <a:srgbClr val="000000"/>
                </a:solidFill>
                <a:latin typeface="Segoe UI"/>
                <a:ea typeface="Segoe UI"/>
                <a:cs typeface="Segoe UI"/>
              </a:rPr>
              <a:t>Choice should</a:t>
            </a:r>
            <a:r>
              <a:rPr lang="en-US" sz="1400" b="0" i="0" u="none" strike="noStrike" baseline="0">
                <a:solidFill>
                  <a:srgbClr val="000000"/>
                </a:solidFill>
                <a:latin typeface="Segoe UI"/>
                <a:ea typeface="Segoe UI"/>
                <a:cs typeface="Segoe UI"/>
              </a:rPr>
              <a:t> build on</a:t>
            </a:r>
            <a:r>
              <a:rPr lang="en-US" sz="1400">
                <a:solidFill>
                  <a:srgbClr val="000000"/>
                </a:solidFill>
                <a:latin typeface="Segoe UI"/>
                <a:ea typeface="Segoe UI"/>
                <a:cs typeface="Segoe UI"/>
              </a:rPr>
              <a:t> </a:t>
            </a:r>
            <a:r>
              <a:rPr lang="en-US" sz="1400" b="0" i="0" u="none" strike="noStrike" baseline="0">
                <a:solidFill>
                  <a:srgbClr val="000000"/>
                </a:solidFill>
                <a:latin typeface="Segoe UI"/>
                <a:ea typeface="Segoe UI"/>
                <a:cs typeface="Segoe UI"/>
              </a:rPr>
              <a:t>its employees' engagement more, especially in its </a:t>
            </a:r>
            <a:r>
              <a:rPr lang="en-US" sz="1400" b="0" i="0" u="none" strike="noStrike" baseline="0" dirty="0">
                <a:solidFill>
                  <a:srgbClr val="000000"/>
                </a:solidFill>
                <a:latin typeface="Segoe UI"/>
                <a:ea typeface="Segoe UI"/>
                <a:cs typeface="Segoe UI"/>
              </a:rPr>
              <a:t>weakest areas of </a:t>
            </a:r>
            <a:r>
              <a:rPr lang="en-US" sz="1400" dirty="0">
                <a:solidFill>
                  <a:srgbClr val="000000"/>
                </a:solidFill>
                <a:latin typeface="Segoe UI"/>
                <a:ea typeface="Segoe UI"/>
                <a:cs typeface="Segoe UI"/>
              </a:rPr>
              <a:t>pride and retention.</a:t>
            </a:r>
            <a:endParaRPr lang="en-US">
              <a:solidFill>
                <a:srgbClr val="000000"/>
              </a:solidFill>
              <a:latin typeface="Aptos" panose="020B0004020202020204"/>
              <a:ea typeface="Segoe UI"/>
              <a:cs typeface="Segoe UI"/>
            </a:endParaRPr>
          </a:p>
          <a:p>
            <a:r>
              <a:rPr lang="en-US" sz="1400" b="0" i="0">
                <a:solidFill>
                  <a:srgbClr val="000000"/>
                </a:solidFill>
                <a:latin typeface="Segoe UI"/>
                <a:ea typeface="Segoe UI"/>
                <a:cs typeface="Segoe UI"/>
              </a:rPr>
              <a:t>​</a:t>
            </a:r>
            <a:endParaRPr lang="en-US"/>
          </a:p>
          <a:p>
            <a:pPr marL="742950" lvl="1" indent="-285750" algn="l" rtl="0">
              <a:buFont typeface="Courier New,monospace"/>
              <a:buChar char="o"/>
            </a:pPr>
            <a:r>
              <a:rPr lang="en-US" sz="1400" b="0" i="0" u="none" strike="noStrike" baseline="0">
                <a:solidFill>
                  <a:srgbClr val="000000"/>
                </a:solidFill>
                <a:latin typeface="Segoe UI"/>
                <a:ea typeface="Arial"/>
                <a:cs typeface="Segoe UI"/>
              </a:rPr>
              <a:t>Overall employee satisfaction: 4.04 </a:t>
            </a:r>
            <a:r>
              <a:rPr lang="en-US" sz="1400">
                <a:solidFill>
                  <a:srgbClr val="000000"/>
                </a:solidFill>
                <a:latin typeface="Segoe UI"/>
                <a:ea typeface="Arial"/>
                <a:cs typeface="Segoe UI"/>
              </a:rPr>
              <a:t>/</a:t>
            </a:r>
            <a:r>
              <a:rPr lang="en-US" sz="1400" b="0" i="0" u="none" strike="noStrike" baseline="0">
                <a:solidFill>
                  <a:srgbClr val="000000"/>
                </a:solidFill>
                <a:latin typeface="Segoe UI"/>
                <a:ea typeface="Arial"/>
                <a:cs typeface="Segoe UI"/>
              </a:rPr>
              <a:t> 5 </a:t>
            </a:r>
            <a:r>
              <a:rPr lang="en-US" sz="1400" b="0" i="0">
                <a:solidFill>
                  <a:srgbClr val="000000"/>
                </a:solidFill>
                <a:latin typeface="Segoe UI"/>
                <a:ea typeface="Arial"/>
                <a:cs typeface="Segoe UI"/>
              </a:rPr>
              <a:t>​</a:t>
            </a:r>
          </a:p>
          <a:p>
            <a:pPr marL="742950" lvl="1" indent="-285750">
              <a:buFont typeface="Courier New,monospace"/>
              <a:buChar char="o"/>
            </a:pPr>
            <a:r>
              <a:rPr lang="en-US" sz="1400" b="0" i="0" u="none" strike="noStrike" baseline="0">
                <a:solidFill>
                  <a:srgbClr val="000000"/>
                </a:solidFill>
                <a:latin typeface="Segoe UI"/>
                <a:ea typeface="Arial"/>
                <a:cs typeface="Segoe UI"/>
              </a:rPr>
              <a:t>Recommend the store as a workplace: 4.03 </a:t>
            </a:r>
            <a:r>
              <a:rPr lang="en-US" sz="1400">
                <a:solidFill>
                  <a:srgbClr val="000000"/>
                </a:solidFill>
                <a:latin typeface="Segoe UI"/>
                <a:ea typeface="Arial"/>
                <a:cs typeface="Segoe UI"/>
              </a:rPr>
              <a:t>/ </a:t>
            </a:r>
            <a:r>
              <a:rPr lang="en-US" sz="1400" b="0" i="0" u="none" strike="noStrike" baseline="0">
                <a:solidFill>
                  <a:srgbClr val="000000"/>
                </a:solidFill>
                <a:latin typeface="Segoe UI"/>
                <a:ea typeface="Arial"/>
                <a:cs typeface="Segoe UI"/>
              </a:rPr>
              <a:t>5 </a:t>
            </a:r>
            <a:r>
              <a:rPr lang="en-US" sz="1400" b="0" i="0">
                <a:solidFill>
                  <a:srgbClr val="000000"/>
                </a:solidFill>
                <a:latin typeface="Segoe UI"/>
                <a:ea typeface="Arial"/>
                <a:cs typeface="Segoe UI"/>
              </a:rPr>
              <a:t>​</a:t>
            </a:r>
          </a:p>
          <a:p>
            <a:pPr marL="742950" lvl="1" indent="-285750" algn="l" rtl="0">
              <a:buFont typeface="Courier New,monospace"/>
              <a:buChar char="o"/>
            </a:pPr>
            <a:r>
              <a:rPr lang="en-US" sz="1400" b="0" i="0" u="none" strike="noStrike" baseline="0">
                <a:solidFill>
                  <a:srgbClr val="000000"/>
                </a:solidFill>
                <a:latin typeface="Segoe UI"/>
                <a:ea typeface="Arial"/>
                <a:cs typeface="Segoe UI"/>
              </a:rPr>
              <a:t>Remain at the store: 3.20 </a:t>
            </a:r>
            <a:r>
              <a:rPr lang="en-US" sz="1400">
                <a:solidFill>
                  <a:srgbClr val="000000"/>
                </a:solidFill>
                <a:latin typeface="Segoe UI"/>
                <a:ea typeface="Arial"/>
                <a:cs typeface="Segoe UI"/>
              </a:rPr>
              <a:t>/</a:t>
            </a:r>
            <a:r>
              <a:rPr lang="en-US" sz="1400" b="0" i="0" u="none" strike="noStrike" baseline="0">
                <a:solidFill>
                  <a:srgbClr val="000000"/>
                </a:solidFill>
                <a:latin typeface="Segoe UI"/>
                <a:ea typeface="Arial"/>
                <a:cs typeface="Segoe UI"/>
              </a:rPr>
              <a:t> 5 </a:t>
            </a:r>
            <a:r>
              <a:rPr lang="en-US" sz="1400" b="0" i="0">
                <a:solidFill>
                  <a:srgbClr val="000000"/>
                </a:solidFill>
                <a:latin typeface="Segoe UI"/>
                <a:ea typeface="Arial"/>
                <a:cs typeface="Segoe UI"/>
              </a:rPr>
              <a:t>​</a:t>
            </a:r>
          </a:p>
          <a:p>
            <a:pPr marL="742950" lvl="1" indent="-285750" algn="l" rtl="0">
              <a:buFont typeface="Courier New,monospace"/>
              <a:buChar char="o"/>
            </a:pPr>
            <a:r>
              <a:rPr lang="en-US" sz="1400" b="0" i="0" u="none" strike="noStrike" baseline="0">
                <a:solidFill>
                  <a:srgbClr val="000000"/>
                </a:solidFill>
                <a:latin typeface="Segoe UI"/>
                <a:ea typeface="Arial"/>
                <a:cs typeface="Segoe UI"/>
              </a:rPr>
              <a:t>Proud to work at the store: 2.93 </a:t>
            </a:r>
            <a:r>
              <a:rPr lang="en-US" sz="1400">
                <a:solidFill>
                  <a:srgbClr val="000000"/>
                </a:solidFill>
                <a:latin typeface="Segoe UI"/>
                <a:ea typeface="Arial"/>
                <a:cs typeface="Segoe UI"/>
              </a:rPr>
              <a:t>/</a:t>
            </a:r>
            <a:r>
              <a:rPr lang="en-US" sz="1400" b="0" i="0" u="none" strike="noStrike" baseline="0">
                <a:solidFill>
                  <a:srgbClr val="000000"/>
                </a:solidFill>
                <a:latin typeface="Segoe UI"/>
                <a:ea typeface="Arial"/>
                <a:cs typeface="Segoe UI"/>
              </a:rPr>
              <a:t> 5 </a:t>
            </a:r>
            <a:r>
              <a:rPr lang="en-US" sz="1400" b="0" i="0">
                <a:solidFill>
                  <a:srgbClr val="000000"/>
                </a:solidFill>
                <a:latin typeface="Segoe UI"/>
                <a:ea typeface="Arial"/>
                <a:cs typeface="Segoe UI"/>
              </a:rPr>
              <a:t>​</a:t>
            </a:r>
          </a:p>
          <a:p>
            <a:pPr marL="742950" lvl="1" indent="-285750" algn="l" rtl="0">
              <a:buFont typeface="Courier New,monospace"/>
              <a:buChar char="o"/>
            </a:pPr>
            <a:r>
              <a:rPr lang="en-US" sz="1400" b="0" i="0" u="none" strike="noStrike" baseline="0">
                <a:solidFill>
                  <a:srgbClr val="000000"/>
                </a:solidFill>
                <a:latin typeface="Segoe UI"/>
                <a:ea typeface="Arial"/>
                <a:cs typeface="Segoe UI"/>
              </a:rPr>
              <a:t>Average participation rate is 59.7%, which suggests engagement can improve </a:t>
            </a:r>
          </a:p>
        </p:txBody>
      </p:sp>
      <p:pic>
        <p:nvPicPr>
          <p:cNvPr id="10" name="Picture 9">
            <a:extLst>
              <a:ext uri="{FF2B5EF4-FFF2-40B4-BE49-F238E27FC236}">
                <a16:creationId xmlns:a16="http://schemas.microsoft.com/office/drawing/2014/main" id="{699087E8-8AA3-9500-50D9-77EC7FC4F762}"/>
              </a:ext>
            </a:extLst>
          </p:cNvPr>
          <p:cNvPicPr>
            <a:picLocks noChangeAspect="1"/>
          </p:cNvPicPr>
          <p:nvPr/>
        </p:nvPicPr>
        <p:blipFill>
          <a:blip r:embed="rId2"/>
          <a:srcRect r="1395"/>
          <a:stretch>
            <a:fillRect/>
          </a:stretch>
        </p:blipFill>
        <p:spPr>
          <a:xfrm>
            <a:off x="4886368" y="2874225"/>
            <a:ext cx="6320915" cy="3352800"/>
          </a:xfrm>
          <a:prstGeom prst="rect">
            <a:avLst/>
          </a:prstGeom>
        </p:spPr>
      </p:pic>
    </p:spTree>
    <p:extLst>
      <p:ext uri="{BB962C8B-B14F-4D97-AF65-F5344CB8AC3E}">
        <p14:creationId xmlns:p14="http://schemas.microsoft.com/office/powerpoint/2010/main" val="914218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725A8-F601-F9EB-79A4-06B999E1E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FB535-DC52-09A9-EF14-4B927246A9F9}"/>
              </a:ext>
            </a:extLst>
          </p:cNvPr>
          <p:cNvSpPr>
            <a:spLocks noGrp="1"/>
          </p:cNvSpPr>
          <p:nvPr>
            <p:ph type="title"/>
          </p:nvPr>
        </p:nvSpPr>
        <p:spPr>
          <a:xfrm>
            <a:off x="684814" y="5107918"/>
            <a:ext cx="3210912" cy="456489"/>
          </a:xfrm>
        </p:spPr>
        <p:txBody>
          <a:bodyPr>
            <a:normAutofit/>
          </a:bodyPr>
          <a:lstStyle/>
          <a:p>
            <a:pPr algn="ctr"/>
            <a:r>
              <a:rPr lang="en-US" sz="2000" b="1">
                <a:solidFill>
                  <a:srgbClr val="A776CC"/>
                </a:solidFill>
                <a:latin typeface="Rockwell"/>
              </a:rPr>
              <a:t>Market Position</a:t>
            </a:r>
          </a:p>
        </p:txBody>
      </p:sp>
      <p:sp>
        <p:nvSpPr>
          <p:cNvPr id="4" name="TextBox 3">
            <a:extLst>
              <a:ext uri="{FF2B5EF4-FFF2-40B4-BE49-F238E27FC236}">
                <a16:creationId xmlns:a16="http://schemas.microsoft.com/office/drawing/2014/main" id="{1DACA04D-1552-2840-5427-CDEA969E9EB0}"/>
              </a:ext>
            </a:extLst>
          </p:cNvPr>
          <p:cNvSpPr txBox="1"/>
          <p:nvPr/>
        </p:nvSpPr>
        <p:spPr>
          <a:xfrm>
            <a:off x="4483894" y="4290887"/>
            <a:ext cx="6904930"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solidFill>
                  <a:srgbClr val="000000"/>
                </a:solidFill>
                <a:latin typeface="Segoe UI"/>
                <a:ea typeface="+mn-lt"/>
                <a:cs typeface="Segoe UI"/>
              </a:rPr>
              <a:t>Against competitors, Karma’s Choice is strongest on staff, weaker on product and loyalty. This tells me that Karma’s Choice is winning on the human side with it's people advantage, but where their competitors are winning is where growth is needed. Product satisfaction and Loyalty program satisfaction needs to  be improved.</a:t>
            </a:r>
            <a:endParaRPr lang="en-US" dirty="0"/>
          </a:p>
          <a:p>
            <a:endParaRPr lang="en-US" sz="1400">
              <a:latin typeface="Segoe UI"/>
              <a:cs typeface="Segoe UI"/>
            </a:endParaRPr>
          </a:p>
          <a:p>
            <a:r>
              <a:rPr lang="en-US" sz="1400">
                <a:latin typeface="Segoe UI"/>
                <a:ea typeface="+mn-lt"/>
                <a:cs typeface="Segoe UI"/>
              </a:rPr>
              <a:t>My market research analysis shows a mixed competitive position.</a:t>
            </a:r>
          </a:p>
          <a:p>
            <a:pPr marL="742950" lvl="1" indent="-285750">
              <a:buFont typeface="Courier New,monospace"/>
              <a:buChar char="o"/>
            </a:pPr>
            <a:r>
              <a:rPr lang="en-US" sz="1400">
                <a:latin typeface="Segoe UI"/>
                <a:ea typeface="+mn-lt"/>
                <a:cs typeface="Segoe UI"/>
              </a:rPr>
              <a:t>3rd - Overall satisfaction: 45%</a:t>
            </a:r>
          </a:p>
          <a:p>
            <a:pPr marL="742950" lvl="1" indent="-285750">
              <a:buFont typeface="Courier New,monospace"/>
              <a:buChar char="o"/>
            </a:pPr>
            <a:r>
              <a:rPr lang="en-US" sz="1400">
                <a:latin typeface="Segoe UI"/>
                <a:ea typeface="+mn-lt"/>
                <a:cs typeface="Segoe UI"/>
              </a:rPr>
              <a:t>1st  - Staff satisfaction: 33%</a:t>
            </a:r>
            <a:endParaRPr lang="en-US" sz="1400">
              <a:latin typeface="Segoe UI"/>
              <a:cs typeface="Segoe UI"/>
            </a:endParaRPr>
          </a:p>
          <a:p>
            <a:pPr marL="742950" lvl="1" indent="-285750">
              <a:buFont typeface="Courier New,monospace"/>
              <a:buChar char="o"/>
            </a:pPr>
            <a:r>
              <a:rPr lang="en-US" sz="1400">
                <a:latin typeface="Segoe UI"/>
                <a:ea typeface="+mn-lt"/>
                <a:cs typeface="Segoe UI"/>
              </a:rPr>
              <a:t>Tied Last  - Product satisfaction: 20%</a:t>
            </a:r>
          </a:p>
          <a:p>
            <a:pPr marL="742950" lvl="1" indent="-285750">
              <a:buFont typeface="Courier New,monospace"/>
              <a:buChar char="o"/>
            </a:pPr>
            <a:r>
              <a:rPr lang="en-US" sz="1400">
                <a:latin typeface="Segoe UI"/>
                <a:ea typeface="+mn-lt"/>
                <a:cs typeface="Segoe UI"/>
              </a:rPr>
              <a:t>Tied 2nd - Layout satisfaction: 28%</a:t>
            </a:r>
          </a:p>
          <a:p>
            <a:pPr marL="742950" lvl="1" indent="-285750">
              <a:buFont typeface="Courier New,monospace"/>
              <a:buChar char="o"/>
            </a:pPr>
            <a:r>
              <a:rPr lang="en-US" sz="1400">
                <a:latin typeface="Segoe UI"/>
                <a:ea typeface="+mn-lt"/>
                <a:cs typeface="Segoe UI"/>
              </a:rPr>
              <a:t>4th - Loyalty program satisfaction: 26%</a:t>
            </a:r>
            <a:endParaRPr lang="en-US"/>
          </a:p>
        </p:txBody>
      </p:sp>
      <p:pic>
        <p:nvPicPr>
          <p:cNvPr id="3" name="Picture 2" descr="A screenshot of a graph&#10;&#10;AI-generated content may be incorrect.">
            <a:extLst>
              <a:ext uri="{FF2B5EF4-FFF2-40B4-BE49-F238E27FC236}">
                <a16:creationId xmlns:a16="http://schemas.microsoft.com/office/drawing/2014/main" id="{EA51F6CC-747F-EA9B-6DB1-1C154AE53AB8}"/>
              </a:ext>
            </a:extLst>
          </p:cNvPr>
          <p:cNvPicPr>
            <a:picLocks noChangeAspect="1"/>
          </p:cNvPicPr>
          <p:nvPr/>
        </p:nvPicPr>
        <p:blipFill>
          <a:blip r:embed="rId2"/>
          <a:stretch>
            <a:fillRect/>
          </a:stretch>
        </p:blipFill>
        <p:spPr>
          <a:xfrm>
            <a:off x="1010609" y="158345"/>
            <a:ext cx="10161013" cy="4129053"/>
          </a:xfrm>
          <a:prstGeom prst="rect">
            <a:avLst/>
          </a:prstGeom>
        </p:spPr>
      </p:pic>
      <p:sp>
        <p:nvSpPr>
          <p:cNvPr id="5" name="Rectangle 4">
            <a:extLst>
              <a:ext uri="{FF2B5EF4-FFF2-40B4-BE49-F238E27FC236}">
                <a16:creationId xmlns:a16="http://schemas.microsoft.com/office/drawing/2014/main" id="{EE963B8B-9A6D-A760-78DA-C820FE02E781}"/>
              </a:ext>
            </a:extLst>
          </p:cNvPr>
          <p:cNvSpPr/>
          <p:nvPr/>
        </p:nvSpPr>
        <p:spPr>
          <a:xfrm>
            <a:off x="3879303" y="4849539"/>
            <a:ext cx="13854" cy="1418896"/>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7176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91739-7410-680E-F323-5D8F1BD8D2F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FC54349-C507-58F4-DE19-DF0C15919FA5}"/>
              </a:ext>
            </a:extLst>
          </p:cNvPr>
          <p:cNvSpPr txBox="1"/>
          <p:nvPr/>
        </p:nvSpPr>
        <p:spPr>
          <a:xfrm>
            <a:off x="933315" y="3002983"/>
            <a:ext cx="1032115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rgbClr val="A776CC"/>
                </a:solidFill>
                <a:latin typeface="Rockwell"/>
                <a:cs typeface="Segoe UI"/>
              </a:rPr>
              <a:t>..      Customer Journey Opportunities      ..</a:t>
            </a:r>
            <a:endParaRPr lang="en-US"/>
          </a:p>
          <a:p>
            <a:endParaRPr lang="en-US" sz="1400" b="1">
              <a:solidFill>
                <a:srgbClr val="A776CC"/>
              </a:solidFill>
              <a:latin typeface="Segoe UI"/>
              <a:ea typeface="Segoe UI"/>
              <a:cs typeface="Segoe UI"/>
            </a:endParaRPr>
          </a:p>
          <a:p>
            <a:r>
              <a:rPr lang="en-US" sz="1400" b="1">
                <a:solidFill>
                  <a:srgbClr val="A776CC"/>
                </a:solidFill>
                <a:latin typeface="Segoe UI"/>
                <a:ea typeface="Segoe UI"/>
                <a:cs typeface="Segoe UI"/>
              </a:rPr>
              <a:t>Are there any other opportunities to drive higher retention, and financial growth</a:t>
            </a:r>
            <a:r>
              <a:rPr lang="en-US" sz="1400" b="1" i="0" u="none" strike="noStrike" baseline="0">
                <a:solidFill>
                  <a:srgbClr val="A776CC"/>
                </a:solidFill>
                <a:latin typeface="Segoe UI"/>
                <a:ea typeface="Segoe UI"/>
                <a:cs typeface="Segoe UI"/>
              </a:rPr>
              <a:t>?</a:t>
            </a:r>
            <a:r>
              <a:rPr lang="en-US" sz="1400" b="1" i="0">
                <a:solidFill>
                  <a:srgbClr val="A776CC"/>
                </a:solidFill>
                <a:latin typeface="Segoe UI"/>
                <a:ea typeface="Segoe UI"/>
                <a:cs typeface="Segoe UI"/>
              </a:rPr>
              <a:t>​</a:t>
            </a:r>
            <a:r>
              <a:rPr lang="en-US" sz="1400" b="1">
                <a:solidFill>
                  <a:srgbClr val="A776CC"/>
                </a:solidFill>
                <a:latin typeface="Segoe UI"/>
                <a:ea typeface="Segoe UI"/>
                <a:cs typeface="Segoe UI"/>
              </a:rPr>
              <a:t>   Yes</a:t>
            </a:r>
            <a:endParaRPr lang="en-US" sz="1400">
              <a:latin typeface="Segoe UI"/>
              <a:cs typeface="Segoe UI"/>
            </a:endParaRPr>
          </a:p>
          <a:p>
            <a:endParaRPr lang="en-US" sz="1400">
              <a:solidFill>
                <a:srgbClr val="000000"/>
              </a:solidFill>
              <a:latin typeface="Segoe UI"/>
              <a:ea typeface="Segoe UI"/>
              <a:cs typeface="Segoe UI"/>
            </a:endParaRPr>
          </a:p>
          <a:p>
            <a:pPr algn="just"/>
            <a:r>
              <a:rPr lang="en-US" sz="1400" dirty="0">
                <a:solidFill>
                  <a:srgbClr val="000000"/>
                </a:solidFill>
                <a:latin typeface="Segoe UI"/>
                <a:ea typeface="+mn-lt"/>
                <a:cs typeface="Segoe UI"/>
              </a:rPr>
              <a:t>The biggest opportunity for customer Journey is improving the 2.94/5 item findability. Improving the store layout will greatly help the business. CX Survey results show the customers are more likely to return and spend more when they have a higher satisfaction rate,</a:t>
            </a:r>
            <a:r>
              <a:rPr lang="en-US" sz="1400" b="0" i="0" u="none" strike="noStrike" baseline="0" dirty="0">
                <a:solidFill>
                  <a:srgbClr val="000000"/>
                </a:solidFill>
                <a:latin typeface="Segoe UI"/>
                <a:ea typeface="+mn-lt"/>
                <a:cs typeface="Segoe UI"/>
              </a:rPr>
              <a:t> </a:t>
            </a:r>
            <a:r>
              <a:rPr lang="en-US" sz="1400" dirty="0">
                <a:solidFill>
                  <a:srgbClr val="000000"/>
                </a:solidFill>
                <a:latin typeface="Segoe UI"/>
                <a:ea typeface="+mn-lt"/>
                <a:cs typeface="Segoe UI"/>
              </a:rPr>
              <a:t>and item findability is holding back the satisfaction scores greatly</a:t>
            </a:r>
            <a:r>
              <a:rPr lang="en-US" sz="1400" b="0" i="0" u="none" strike="noStrike" baseline="0" dirty="0">
                <a:solidFill>
                  <a:srgbClr val="000000"/>
                </a:solidFill>
                <a:latin typeface="Segoe UI"/>
                <a:ea typeface="+mn-lt"/>
                <a:cs typeface="Segoe UI"/>
              </a:rPr>
              <a:t>.</a:t>
            </a:r>
            <a:endParaRPr lang="en-US" sz="1400" dirty="0">
              <a:latin typeface="Segoe UI"/>
              <a:ea typeface="+mn-lt"/>
              <a:cs typeface="Segoe UI"/>
            </a:endParaRPr>
          </a:p>
          <a:p>
            <a:pPr algn="just"/>
            <a:endParaRPr lang="en-US" sz="1400">
              <a:latin typeface="Segoe UI"/>
              <a:ea typeface="+mn-lt"/>
              <a:cs typeface="Segoe UI"/>
            </a:endParaRPr>
          </a:p>
          <a:p>
            <a:pPr algn="just"/>
            <a:r>
              <a:rPr lang="en-US" sz="1400">
                <a:latin typeface="Segoe UI"/>
                <a:ea typeface="+mn-lt"/>
                <a:cs typeface="Segoe UI"/>
              </a:rPr>
              <a:t>A less important opportunity is improving product availability, customers that said yes to available products had slightly higher satisfaction scores across all questions. However, the boost in satisfaction scores are quite small.</a:t>
            </a:r>
            <a:endParaRPr lang="en-US" sz="1400">
              <a:latin typeface="Segoe UI"/>
              <a:cs typeface="Segoe UI"/>
            </a:endParaRPr>
          </a:p>
          <a:p>
            <a:pPr algn="just"/>
            <a:endParaRPr lang="en-US" sz="1400">
              <a:latin typeface="Segoe UI"/>
              <a:cs typeface="Segoe UI"/>
            </a:endParaRPr>
          </a:p>
          <a:p>
            <a:pPr algn="just"/>
            <a:r>
              <a:rPr lang="en-US" sz="1400" dirty="0">
                <a:latin typeface="Segoe UI"/>
                <a:ea typeface="+mn-lt"/>
                <a:cs typeface="Segoe UI"/>
              </a:rPr>
              <a:t>Which would be the same for the last opportunity: improving employee engagements. Despite the investment in Employee Engagement, employees are still less satisfied than customers. While customers scored a 4.9/5 in overall satisfaction, employees scored a 4.04/5. Investing even more in Employee Engagement would improve the satisfaction score, but It may not be worth it. Employees are still doing a great job, despite the lower overall satisfaction. What's really needs fixing is the store layout.</a:t>
            </a:r>
            <a:endParaRPr lang="en-US" sz="1400" dirty="0">
              <a:latin typeface="Segoe UI"/>
              <a:cs typeface="Segoe UI"/>
            </a:endParaRPr>
          </a:p>
        </p:txBody>
      </p:sp>
      <p:sp>
        <p:nvSpPr>
          <p:cNvPr id="9" name="TextBox 8">
            <a:extLst>
              <a:ext uri="{FF2B5EF4-FFF2-40B4-BE49-F238E27FC236}">
                <a16:creationId xmlns:a16="http://schemas.microsoft.com/office/drawing/2014/main" id="{73EA8502-71A2-F832-2634-4F4C554ED4EA}"/>
              </a:ext>
            </a:extLst>
          </p:cNvPr>
          <p:cNvSpPr txBox="1"/>
          <p:nvPr/>
        </p:nvSpPr>
        <p:spPr>
          <a:xfrm>
            <a:off x="937515" y="532718"/>
            <a:ext cx="10312054"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2000" b="1" i="0" u="none" strike="noStrike" baseline="0">
                <a:solidFill>
                  <a:srgbClr val="A776CC"/>
                </a:solidFill>
                <a:latin typeface="Rockwell"/>
                <a:ea typeface="Segoe UI"/>
                <a:cs typeface="Segoe UI"/>
              </a:rPr>
              <a:t>..      Layout, Self-Checkout, and Retention     ..</a:t>
            </a:r>
            <a:r>
              <a:rPr lang="en-US" sz="2000" b="0" i="0">
                <a:solidFill>
                  <a:srgbClr val="000000"/>
                </a:solidFill>
                <a:latin typeface="Rockwell"/>
                <a:ea typeface="Segoe UI"/>
                <a:cs typeface="Segoe UI"/>
              </a:rPr>
              <a:t>​</a:t>
            </a:r>
          </a:p>
          <a:p>
            <a:pPr algn="l" rtl="0"/>
            <a:r>
              <a:rPr lang="en-US" sz="1400" b="0" i="0">
                <a:solidFill>
                  <a:srgbClr val="000000"/>
                </a:solidFill>
                <a:latin typeface="Segoe UI"/>
                <a:ea typeface="Segoe UI"/>
                <a:cs typeface="Segoe UI"/>
              </a:rPr>
              <a:t>​</a:t>
            </a:r>
          </a:p>
          <a:p>
            <a:pPr algn="l" rtl="0"/>
            <a:r>
              <a:rPr lang="en-US" sz="1400" b="1" i="0" u="none" strike="noStrike" baseline="0">
                <a:solidFill>
                  <a:srgbClr val="A776CC"/>
                </a:solidFill>
                <a:latin typeface="Segoe UI"/>
                <a:ea typeface="Segoe UI"/>
                <a:cs typeface="Segoe UI"/>
              </a:rPr>
              <a:t>Was layout and self-checkout a bad investment?   Self-checkout No, Layout Needs More.</a:t>
            </a:r>
            <a:r>
              <a:rPr lang="en-US" sz="1400" b="0" i="0">
                <a:solidFill>
                  <a:srgbClr val="000000"/>
                </a:solidFill>
                <a:latin typeface="Segoe UI"/>
                <a:ea typeface="Segoe UI"/>
                <a:cs typeface="Segoe UI"/>
              </a:rPr>
              <a:t>​</a:t>
            </a:r>
          </a:p>
          <a:p>
            <a:pPr algn="l" rtl="0"/>
            <a:r>
              <a:rPr lang="en-US" sz="1400" b="0" i="0">
                <a:solidFill>
                  <a:srgbClr val="000000"/>
                </a:solidFill>
                <a:latin typeface="Segoe UI"/>
                <a:ea typeface="Segoe UI"/>
                <a:cs typeface="Segoe UI"/>
              </a:rPr>
              <a:t>​</a:t>
            </a:r>
          </a:p>
          <a:p>
            <a:pPr algn="just"/>
            <a:r>
              <a:rPr lang="en-US" sz="1400" b="0" i="0" u="none" strike="noStrike" baseline="0" dirty="0">
                <a:solidFill>
                  <a:srgbClr val="000000"/>
                </a:solidFill>
                <a:latin typeface="Segoe UI"/>
                <a:ea typeface="Segoe UI"/>
                <a:cs typeface="Segoe UI"/>
              </a:rPr>
              <a:t>I do not think the layout and self-checkout investment was a bad idea. However, the data does not show that </a:t>
            </a:r>
            <a:r>
              <a:rPr lang="en-US" sz="1400" dirty="0">
                <a:solidFill>
                  <a:srgbClr val="000000"/>
                </a:solidFill>
                <a:latin typeface="Segoe UI"/>
                <a:ea typeface="Segoe UI"/>
                <a:cs typeface="Segoe UI"/>
              </a:rPr>
              <a:t>it solved</a:t>
            </a:r>
            <a:r>
              <a:rPr lang="en-US" sz="1400" b="0" i="0" u="none" strike="noStrike" baseline="0" dirty="0">
                <a:solidFill>
                  <a:srgbClr val="000000"/>
                </a:solidFill>
                <a:latin typeface="Segoe UI"/>
                <a:ea typeface="Segoe UI"/>
                <a:cs typeface="Segoe UI"/>
              </a:rPr>
              <a:t> the main customer problem of 2.94/5 Easy to Find Items. Customers still want a smoother </a:t>
            </a:r>
            <a:r>
              <a:rPr lang="en-US" sz="1400" dirty="0">
                <a:solidFill>
                  <a:srgbClr val="000000"/>
                </a:solidFill>
                <a:latin typeface="Segoe UI"/>
                <a:ea typeface="Segoe UI"/>
                <a:cs typeface="Segoe UI"/>
              </a:rPr>
              <a:t>shopping experience</a:t>
            </a:r>
            <a:r>
              <a:rPr lang="en-US" sz="1400" b="0" i="0" u="none" strike="noStrike" baseline="0" dirty="0">
                <a:solidFill>
                  <a:srgbClr val="000000"/>
                </a:solidFill>
                <a:latin typeface="Segoe UI"/>
                <a:ea typeface="Segoe UI"/>
                <a:cs typeface="Segoe UI"/>
              </a:rPr>
              <a:t>. The </a:t>
            </a:r>
            <a:r>
              <a:rPr lang="en-US" sz="1400" dirty="0">
                <a:solidFill>
                  <a:srgbClr val="000000"/>
                </a:solidFill>
                <a:latin typeface="Segoe UI"/>
                <a:ea typeface="Segoe UI"/>
                <a:cs typeface="Segoe UI"/>
              </a:rPr>
              <a:t>issue is not the investment itself, but how it was implemented. The </a:t>
            </a:r>
            <a:r>
              <a:rPr lang="en-US" sz="1400" b="0" i="0" u="none" strike="noStrike" baseline="0" dirty="0">
                <a:solidFill>
                  <a:srgbClr val="000000"/>
                </a:solidFill>
                <a:latin typeface="Segoe UI"/>
                <a:ea typeface="Segoe UI"/>
                <a:cs typeface="Segoe UI"/>
              </a:rPr>
              <a:t>store may be easier in some ways, but not necessarily more intuitive</a:t>
            </a:r>
            <a:r>
              <a:rPr lang="en-US" sz="1400" dirty="0">
                <a:solidFill>
                  <a:srgbClr val="000000"/>
                </a:solidFill>
                <a:latin typeface="Segoe UI"/>
                <a:ea typeface="Segoe UI"/>
                <a:cs typeface="Segoe UI"/>
              </a:rPr>
              <a:t>.</a:t>
            </a:r>
            <a:r>
              <a:rPr lang="en-US" sz="1400" b="0" i="0" u="none" strike="noStrike" baseline="0" dirty="0">
                <a:solidFill>
                  <a:srgbClr val="000000"/>
                </a:solidFill>
                <a:latin typeface="Segoe UI"/>
                <a:ea typeface="Segoe UI"/>
                <a:cs typeface="Segoe UI"/>
              </a:rPr>
              <a:t> Self-checkout </a:t>
            </a:r>
            <a:r>
              <a:rPr lang="en-US" sz="1400" dirty="0">
                <a:solidFill>
                  <a:srgbClr val="000000"/>
                </a:solidFill>
                <a:latin typeface="Segoe UI"/>
                <a:ea typeface="Segoe UI"/>
                <a:cs typeface="Segoe UI"/>
              </a:rPr>
              <a:t>has helped</a:t>
            </a:r>
            <a:r>
              <a:rPr lang="en-US" sz="1400" b="0" i="0" u="none" strike="noStrike" baseline="0" dirty="0">
                <a:solidFill>
                  <a:srgbClr val="000000"/>
                </a:solidFill>
                <a:latin typeface="Segoe UI"/>
                <a:ea typeface="Segoe UI"/>
                <a:cs typeface="Segoe UI"/>
              </a:rPr>
              <a:t> but it doesn't fix every frustration</a:t>
            </a:r>
            <a:r>
              <a:rPr lang="en-US" sz="1400" dirty="0">
                <a:solidFill>
                  <a:srgbClr val="000000"/>
                </a:solidFill>
                <a:latin typeface="Segoe UI"/>
                <a:ea typeface="Segoe UI"/>
                <a:cs typeface="Segoe UI"/>
              </a:rPr>
              <a:t>.</a:t>
            </a:r>
            <a:r>
              <a:rPr lang="en-US" sz="1400" b="0" i="0" u="none" strike="noStrike" baseline="0" dirty="0">
                <a:solidFill>
                  <a:srgbClr val="000000"/>
                </a:solidFill>
                <a:latin typeface="Segoe UI"/>
                <a:ea typeface="Segoe UI"/>
                <a:cs typeface="Segoe UI"/>
              </a:rPr>
              <a:t> If customers still struggle to find items or get help, retention still </a:t>
            </a:r>
            <a:r>
              <a:rPr lang="en-US" sz="1400" dirty="0">
                <a:solidFill>
                  <a:srgbClr val="000000"/>
                </a:solidFill>
                <a:latin typeface="Segoe UI"/>
                <a:ea typeface="Segoe UI"/>
                <a:cs typeface="Segoe UI"/>
              </a:rPr>
              <a:t>falls. My</a:t>
            </a:r>
            <a:r>
              <a:rPr lang="en-US" sz="1400" b="0" i="0" u="none" strike="noStrike" baseline="0" dirty="0">
                <a:solidFill>
                  <a:srgbClr val="000000"/>
                </a:solidFill>
                <a:latin typeface="Segoe UI"/>
                <a:ea typeface="Segoe UI"/>
                <a:cs typeface="Segoe UI"/>
              </a:rPr>
              <a:t> view is that the layout investment should be improved further. My recommendation is to keep self-checkout, but improve signage, aisles, and floor support so customers can find what they need faster.</a:t>
            </a:r>
          </a:p>
          <a:p>
            <a:pPr algn="ctr"/>
            <a:endParaRPr lang="en-US"/>
          </a:p>
        </p:txBody>
      </p:sp>
    </p:spTree>
    <p:extLst>
      <p:ext uri="{BB962C8B-B14F-4D97-AF65-F5344CB8AC3E}">
        <p14:creationId xmlns:p14="http://schemas.microsoft.com/office/powerpoint/2010/main" val="2537727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5A830F-88AA-C369-C5D5-B1F9B6F71D0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9180ECA-230D-891D-52A4-4B25EEE63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9EA19785-2BE0-EC2C-653C-B7502CAA9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rgbClr val="A77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FBD9CDB-6AA4-7602-5C66-237022E6D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DF88078-CC09-18C0-5850-ED5C65644120}"/>
              </a:ext>
            </a:extLst>
          </p:cNvPr>
          <p:cNvSpPr txBox="1"/>
          <p:nvPr/>
        </p:nvSpPr>
        <p:spPr>
          <a:xfrm>
            <a:off x="1929380" y="976003"/>
            <a:ext cx="8327576"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rgbClr val="A776CC"/>
                </a:solidFill>
                <a:latin typeface="Rockwell"/>
                <a:ea typeface="+mn-lt"/>
                <a:cs typeface="Segoe UI"/>
              </a:rPr>
              <a:t>..      The 2022 Growth Strategy      ..</a:t>
            </a:r>
            <a:endParaRPr lang="en-US" sz="2000">
              <a:solidFill>
                <a:srgbClr val="000000"/>
              </a:solidFill>
              <a:latin typeface="Rockwell"/>
              <a:ea typeface="+mn-lt"/>
              <a:cs typeface="Segoe UI"/>
            </a:endParaRPr>
          </a:p>
          <a:p>
            <a:endParaRPr lang="en-US" sz="1400">
              <a:solidFill>
                <a:srgbClr val="000000"/>
              </a:solidFill>
              <a:latin typeface="Segoe UI"/>
              <a:ea typeface="+mn-lt"/>
              <a:cs typeface="Segoe UI"/>
            </a:endParaRPr>
          </a:p>
          <a:p>
            <a:r>
              <a:rPr lang="en-US" sz="1400">
                <a:latin typeface="Segoe UI"/>
                <a:ea typeface="+mn-lt"/>
                <a:cs typeface="Segoe UI"/>
              </a:rPr>
              <a:t>To support 16% revenue growth and improve retention , Karma’s Choice should focus on 4 priorities:</a:t>
            </a:r>
            <a:endParaRPr lang="en-US">
              <a:latin typeface="Aptos" panose="020B0004020202020204"/>
              <a:cs typeface="Segoe UI"/>
            </a:endParaRPr>
          </a:p>
          <a:p>
            <a:pPr marL="742950" lvl="1" indent="-285750">
              <a:buFont typeface="Arial"/>
              <a:buChar char="•"/>
            </a:pPr>
            <a:r>
              <a:rPr lang="en-US" sz="1400" b="1" dirty="0">
                <a:solidFill>
                  <a:srgbClr val="A776CC"/>
                </a:solidFill>
                <a:latin typeface="Segoe UI"/>
                <a:ea typeface="+mn-lt"/>
                <a:cs typeface="Segoe UI"/>
              </a:rPr>
              <a:t>Main Priority 1:</a:t>
            </a:r>
            <a:r>
              <a:rPr lang="en-US" sz="1400" dirty="0">
                <a:solidFill>
                  <a:srgbClr val="000000"/>
                </a:solidFill>
                <a:latin typeface="Segoe UI"/>
                <a:ea typeface="+mn-lt"/>
                <a:cs typeface="Segoe UI"/>
              </a:rPr>
              <a:t> Improve the customer journe</a:t>
            </a:r>
            <a:r>
              <a:rPr lang="en-US" sz="1400" dirty="0">
                <a:latin typeface="Segoe UI"/>
                <a:ea typeface="+mn-lt"/>
                <a:cs typeface="Segoe UI"/>
              </a:rPr>
              <a:t>y </a:t>
            </a:r>
            <a:r>
              <a:rPr lang="en-US" sz="1400" b="1" dirty="0">
                <a:solidFill>
                  <a:srgbClr val="A776CC"/>
                </a:solidFill>
                <a:latin typeface="Segoe UI"/>
                <a:ea typeface="+mn-lt"/>
                <a:cs typeface="Segoe UI"/>
              </a:rPr>
              <a:t>- </a:t>
            </a:r>
            <a:r>
              <a:rPr lang="en-US" sz="1400" dirty="0">
                <a:latin typeface="Segoe UI"/>
                <a:ea typeface="+mn-lt"/>
                <a:cs typeface="Segoe UI"/>
              </a:rPr>
              <a:t>Make items easier to find and up </a:t>
            </a:r>
            <a:r>
              <a:rPr lang="en-US" sz="1400">
                <a:latin typeface="Segoe UI"/>
                <a:ea typeface="+mn-lt"/>
                <a:cs typeface="Segoe UI"/>
              </a:rPr>
              <a:t>product Satisfaction</a:t>
            </a:r>
            <a:r>
              <a:rPr lang="en-US" sz="1400" dirty="0">
                <a:latin typeface="Segoe UI"/>
                <a:ea typeface="+mn-lt"/>
                <a:cs typeface="Segoe UI"/>
              </a:rPr>
              <a:t>. Clearer signage, better aisle logic, and cleaner layout.</a:t>
            </a:r>
          </a:p>
          <a:p>
            <a:pPr marL="742950" lvl="1" indent="-285750">
              <a:buFont typeface="Arial"/>
              <a:buChar char="•"/>
            </a:pPr>
            <a:r>
              <a:rPr lang="en-US" sz="1400" b="1">
                <a:solidFill>
                  <a:srgbClr val="A776CC"/>
                </a:solidFill>
                <a:latin typeface="Segoe UI"/>
                <a:ea typeface="+mn-lt"/>
                <a:cs typeface="Segoe UI"/>
              </a:rPr>
              <a:t>Priority 2: </a:t>
            </a:r>
            <a:r>
              <a:rPr lang="en-US" sz="1400">
                <a:latin typeface="Segoe UI"/>
                <a:ea typeface="+mn-lt"/>
                <a:cs typeface="Segoe UI"/>
              </a:rPr>
              <a:t>Improve product availability </a:t>
            </a:r>
            <a:r>
              <a:rPr lang="en-US" sz="1400" b="1">
                <a:solidFill>
                  <a:srgbClr val="A776CC"/>
                </a:solidFill>
                <a:latin typeface="Segoe UI"/>
                <a:ea typeface="+mn-lt"/>
                <a:cs typeface="Segoe UI"/>
              </a:rPr>
              <a:t>- </a:t>
            </a:r>
            <a:r>
              <a:rPr lang="en-US" sz="1400">
                <a:latin typeface="Segoe UI"/>
                <a:ea typeface="+mn-lt"/>
                <a:cs typeface="Segoe UI"/>
              </a:rPr>
              <a:t>fewer out-of-stocks, better replenishment, stronger shelf execution.</a:t>
            </a:r>
            <a:endParaRPr lang="en-US" sz="1400">
              <a:latin typeface="Segoe UI"/>
              <a:cs typeface="Segoe UI"/>
            </a:endParaRPr>
          </a:p>
          <a:p>
            <a:pPr marL="742950" lvl="1" indent="-285750">
              <a:buFont typeface="Arial"/>
              <a:buChar char="•"/>
            </a:pPr>
            <a:r>
              <a:rPr lang="en-US" sz="1400" b="1">
                <a:solidFill>
                  <a:srgbClr val="A776CC"/>
                </a:solidFill>
                <a:latin typeface="Segoe UI"/>
                <a:ea typeface="+mn-lt"/>
                <a:cs typeface="Segoe UI"/>
              </a:rPr>
              <a:t>Priority 3:</a:t>
            </a:r>
            <a:r>
              <a:rPr lang="en-US" sz="1400">
                <a:latin typeface="Segoe UI"/>
                <a:ea typeface="+mn-lt"/>
                <a:cs typeface="Segoe UI"/>
              </a:rPr>
              <a:t> Invest more in employees </a:t>
            </a:r>
            <a:r>
              <a:rPr lang="en-US" sz="1400" b="1">
                <a:solidFill>
                  <a:srgbClr val="A776CC"/>
                </a:solidFill>
                <a:latin typeface="Segoe UI"/>
                <a:ea typeface="+mn-lt"/>
                <a:cs typeface="Segoe UI"/>
              </a:rPr>
              <a:t>- </a:t>
            </a:r>
            <a:r>
              <a:rPr lang="en-US" sz="1400">
                <a:latin typeface="Segoe UI"/>
                <a:ea typeface="+mn-lt"/>
                <a:cs typeface="Segoe UI"/>
              </a:rPr>
              <a:t>Improve engagement, recognition, scheduling fairness, Support training. Make employees more prepared, confident, and happy to be there.</a:t>
            </a:r>
          </a:p>
          <a:p>
            <a:pPr marL="742950" lvl="1" indent="-285750">
              <a:buFont typeface="Arial"/>
              <a:buChar char="•"/>
            </a:pPr>
            <a:r>
              <a:rPr lang="en-US" sz="1400" b="1">
                <a:solidFill>
                  <a:srgbClr val="A776CC"/>
                </a:solidFill>
                <a:latin typeface="Segoe UI"/>
                <a:cs typeface="Segoe UI"/>
              </a:rPr>
              <a:t>Minor Priority 4:</a:t>
            </a:r>
            <a:r>
              <a:rPr lang="en-US" sz="1400">
                <a:latin typeface="Segoe UI"/>
                <a:cs typeface="Segoe UI"/>
              </a:rPr>
              <a:t> Strengthen loyalty program </a:t>
            </a:r>
            <a:r>
              <a:rPr lang="en-US" sz="1400" b="1">
                <a:solidFill>
                  <a:srgbClr val="A776CC"/>
                </a:solidFill>
                <a:latin typeface="Segoe UI"/>
                <a:cs typeface="Segoe UI"/>
              </a:rPr>
              <a:t>- </a:t>
            </a:r>
            <a:r>
              <a:rPr lang="en-US" sz="1400">
                <a:latin typeface="Segoe UI"/>
                <a:cs typeface="Segoe UI"/>
              </a:rPr>
              <a:t>improve loyalty value, personalized offers, and post-purchase retention tactics</a:t>
            </a:r>
            <a:endParaRPr lang="en-US"/>
          </a:p>
          <a:p>
            <a:pPr marL="285750" indent="-285750">
              <a:buFont typeface="Arial"/>
              <a:buChar char="•"/>
            </a:pPr>
            <a:endParaRPr lang="en-US" sz="1400">
              <a:latin typeface="Segoe UI"/>
              <a:cs typeface="Segoe UI"/>
            </a:endParaRPr>
          </a:p>
        </p:txBody>
      </p:sp>
      <p:sp>
        <p:nvSpPr>
          <p:cNvPr id="19" name="TextBox 18">
            <a:extLst>
              <a:ext uri="{FF2B5EF4-FFF2-40B4-BE49-F238E27FC236}">
                <a16:creationId xmlns:a16="http://schemas.microsoft.com/office/drawing/2014/main" id="{D811F6C9-5E70-EE22-C344-AA31AC9B306F}"/>
              </a:ext>
            </a:extLst>
          </p:cNvPr>
          <p:cNvSpPr txBox="1"/>
          <p:nvPr/>
        </p:nvSpPr>
        <p:spPr>
          <a:xfrm>
            <a:off x="2007534" y="3517190"/>
            <a:ext cx="8161501" cy="2339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rgbClr val="A776CC"/>
                </a:solidFill>
                <a:latin typeface="Rockwell"/>
                <a:ea typeface="+mn-lt"/>
                <a:cs typeface="Segoe UI"/>
              </a:rPr>
              <a:t>..      Closing    ..</a:t>
            </a:r>
            <a:endParaRPr lang="en-US" sz="2000">
              <a:solidFill>
                <a:srgbClr val="000000"/>
              </a:solidFill>
              <a:latin typeface="Rockwell"/>
              <a:ea typeface="+mn-lt"/>
              <a:cs typeface="Segoe UI"/>
            </a:endParaRPr>
          </a:p>
          <a:p>
            <a:endParaRPr lang="en-US" sz="1400">
              <a:solidFill>
                <a:srgbClr val="000000"/>
              </a:solidFill>
              <a:latin typeface="Segoe UI"/>
              <a:ea typeface="+mn-lt"/>
              <a:cs typeface="Segoe UI"/>
            </a:endParaRPr>
          </a:p>
          <a:p>
            <a:r>
              <a:rPr lang="en-US" sz="1400" dirty="0">
                <a:latin typeface="Segoe UI"/>
                <a:ea typeface="+mn-lt"/>
                <a:cs typeface="Segoe UI"/>
              </a:rPr>
              <a:t>Engaged employees, smoother shopping, more </a:t>
            </a:r>
            <a:r>
              <a:rPr lang="en-US" sz="1400">
                <a:latin typeface="Segoe UI"/>
                <a:ea typeface="+mn-lt"/>
                <a:cs typeface="Segoe UI"/>
              </a:rPr>
              <a:t>available</a:t>
            </a:r>
            <a:r>
              <a:rPr lang="en-US" sz="1400" dirty="0">
                <a:latin typeface="Segoe UI"/>
                <a:ea typeface="+mn-lt"/>
                <a:cs typeface="Segoe UI"/>
              </a:rPr>
              <a:t> products, and better loyalty program = </a:t>
            </a:r>
            <a:r>
              <a:rPr lang="en-US" sz="1400">
                <a:latin typeface="Segoe UI"/>
                <a:ea typeface="+mn-lt"/>
                <a:cs typeface="Segoe UI"/>
              </a:rPr>
              <a:t>better retention and will drive stronger revenue. Karma’s Choice should use these recommendations </a:t>
            </a:r>
            <a:r>
              <a:rPr lang="en-US" sz="1400" dirty="0">
                <a:latin typeface="Segoe UI"/>
                <a:ea typeface="+mn-lt"/>
                <a:cs typeface="Segoe UI"/>
              </a:rPr>
              <a:t>and collect the same data again at the end of 2022.</a:t>
            </a:r>
          </a:p>
          <a:p>
            <a:endParaRPr lang="en-US" sz="1400">
              <a:latin typeface="Segoe UI"/>
              <a:ea typeface="+mn-lt"/>
              <a:cs typeface="Segoe UI"/>
            </a:endParaRPr>
          </a:p>
          <a:p>
            <a:r>
              <a:rPr lang="en-US" sz="1400">
                <a:latin typeface="Segoe UI"/>
                <a:ea typeface="+mn-lt"/>
                <a:cs typeface="Segoe UI"/>
              </a:rPr>
              <a:t>In conclusion, Karma’s Choice should keep investing in employee engagement and use its strong people interactions and service potential to see its ROI in 2022. The brand can turn that service strength into higher retention and financial growth, by Improving the customer journey.</a:t>
            </a:r>
            <a:endParaRPr lang="en-US" sz="1400">
              <a:latin typeface="Segoe UI"/>
              <a:cs typeface="Segoe UI"/>
            </a:endParaRPr>
          </a:p>
          <a:p>
            <a:endParaRPr lang="en-US" sz="1400">
              <a:latin typeface="Segoe UI"/>
              <a:cs typeface="Segoe UI"/>
            </a:endParaRPr>
          </a:p>
        </p:txBody>
      </p:sp>
    </p:spTree>
    <p:extLst>
      <p:ext uri="{BB962C8B-B14F-4D97-AF65-F5344CB8AC3E}">
        <p14:creationId xmlns:p14="http://schemas.microsoft.com/office/powerpoint/2010/main" val="144114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Karma’s Choice 2022 Growth Plan</vt:lpstr>
      <vt:lpstr>..     Executive Summary      ..</vt:lpstr>
      <vt:lpstr>..      Customer Experience      ..</vt:lpstr>
      <vt:lpstr>..      What Drives Spend &amp; Retention      ..</vt:lpstr>
      <vt:lpstr>PowerPoint Presentation</vt:lpstr>
      <vt:lpstr>Market Position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231</cp:revision>
  <dcterms:created xsi:type="dcterms:W3CDTF">2026-04-19T21:20:13Z</dcterms:created>
  <dcterms:modified xsi:type="dcterms:W3CDTF">2026-09-26T23:32:18Z</dcterms:modified>
</cp:coreProperties>
</file>